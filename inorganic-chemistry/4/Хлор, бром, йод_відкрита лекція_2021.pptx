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82" r:id="rId4"/>
    <p:sldId id="258" r:id="rId5"/>
    <p:sldId id="259" r:id="rId6"/>
    <p:sldId id="269" r:id="rId7"/>
    <p:sldId id="262" r:id="rId8"/>
    <p:sldId id="280" r:id="rId9"/>
    <p:sldId id="266" r:id="rId10"/>
    <p:sldId id="272" r:id="rId11"/>
    <p:sldId id="281" r:id="rId12"/>
    <p:sldId id="264" r:id="rId13"/>
    <p:sldId id="270" r:id="rId14"/>
    <p:sldId id="283" r:id="rId15"/>
    <p:sldId id="267" r:id="rId16"/>
    <p:sldId id="271" r:id="rId17"/>
    <p:sldId id="273" r:id="rId18"/>
    <p:sldId id="274" r:id="rId19"/>
    <p:sldId id="28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107" d="100"/>
          <a:sy n="107" d="100"/>
        </p:scale>
        <p:origin x="686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A844B4-3B5A-4AAA-BB9B-C22AA03019A6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4601A57-A0DA-4F53-A78E-709EFBA9239D}">
      <dgm:prSet phldrT="[Текст]"/>
      <dgm:spPr/>
      <dgm:t>
        <a:bodyPr/>
        <a:lstStyle/>
        <a:p>
          <a:r>
            <a:rPr lang="en-US" dirty="0" err="1" smtClean="0"/>
            <a:t>Cl</a:t>
          </a:r>
          <a:endParaRPr lang="uk-UA" dirty="0"/>
        </a:p>
      </dgm:t>
    </dgm:pt>
    <dgm:pt modelId="{2026D549-6AFB-4424-A2AC-84238799F6FA}" type="parTrans" cxnId="{398300FF-7797-450B-AD38-932BEC983300}">
      <dgm:prSet/>
      <dgm:spPr/>
      <dgm:t>
        <a:bodyPr/>
        <a:lstStyle/>
        <a:p>
          <a:endParaRPr lang="uk-UA"/>
        </a:p>
      </dgm:t>
    </dgm:pt>
    <dgm:pt modelId="{EBFCE9A1-716B-45EA-9E06-54EAA844F7C1}" type="sibTrans" cxnId="{398300FF-7797-450B-AD38-932BEC983300}">
      <dgm:prSet/>
      <dgm:spPr/>
      <dgm:t>
        <a:bodyPr/>
        <a:lstStyle/>
        <a:p>
          <a:endParaRPr lang="uk-UA"/>
        </a:p>
      </dgm:t>
    </dgm:pt>
    <dgm:pt modelId="{9BAA1B06-2D4C-4007-8721-18C2A91E620F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uk-UA" sz="2000" dirty="0" smtClean="0"/>
            <a:t>Шлунковий сік</a:t>
          </a:r>
          <a:endParaRPr lang="uk-UA" sz="2000" dirty="0"/>
        </a:p>
      </dgm:t>
    </dgm:pt>
    <dgm:pt modelId="{227DF3F0-CD83-439E-9D12-3BC155BE480C}" type="parTrans" cxnId="{CC5D4278-C084-4787-AB5F-EE1D1312281F}">
      <dgm:prSet/>
      <dgm:spPr/>
      <dgm:t>
        <a:bodyPr/>
        <a:lstStyle/>
        <a:p>
          <a:endParaRPr lang="uk-UA"/>
        </a:p>
      </dgm:t>
    </dgm:pt>
    <dgm:pt modelId="{B7B49466-765F-4B89-A387-0E890FF1D8CE}" type="sibTrans" cxnId="{CC5D4278-C084-4787-AB5F-EE1D1312281F}">
      <dgm:prSet/>
      <dgm:spPr/>
      <dgm:t>
        <a:bodyPr/>
        <a:lstStyle/>
        <a:p>
          <a:endParaRPr lang="uk-UA"/>
        </a:p>
      </dgm:t>
    </dgm:pt>
    <dgm:pt modelId="{8958C0D8-5C50-4080-9DF5-76F4EA1CD7B0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uk-UA" sz="2000" dirty="0" smtClean="0"/>
            <a:t>Плазма крові</a:t>
          </a:r>
          <a:endParaRPr lang="uk-UA" sz="2000" dirty="0"/>
        </a:p>
      </dgm:t>
    </dgm:pt>
    <dgm:pt modelId="{A5EA1829-B9C6-4011-839B-C512CF9F6B3A}" type="parTrans" cxnId="{8AAA062F-726C-4F1C-8399-CA8D345DAC62}">
      <dgm:prSet/>
      <dgm:spPr/>
      <dgm:t>
        <a:bodyPr/>
        <a:lstStyle/>
        <a:p>
          <a:endParaRPr lang="uk-UA"/>
        </a:p>
      </dgm:t>
    </dgm:pt>
    <dgm:pt modelId="{8073751B-4473-47A4-97CA-A3E174E3C06A}" type="sibTrans" cxnId="{8AAA062F-726C-4F1C-8399-CA8D345DAC62}">
      <dgm:prSet/>
      <dgm:spPr/>
      <dgm:t>
        <a:bodyPr/>
        <a:lstStyle/>
        <a:p>
          <a:endParaRPr lang="uk-UA"/>
        </a:p>
      </dgm:t>
    </dgm:pt>
    <dgm:pt modelId="{8F5F589E-3A66-4B14-88C7-1E3970303D0F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uk-UA" sz="2000" baseline="0" dirty="0" smtClean="0"/>
            <a:t>В організмі людини</a:t>
          </a:r>
        </a:p>
        <a:p>
          <a:pPr>
            <a:spcAft>
              <a:spcPts val="0"/>
            </a:spcAft>
          </a:pPr>
          <a:r>
            <a:rPr lang="en-US" sz="2000" baseline="0" dirty="0" smtClean="0"/>
            <a:t>w</a:t>
          </a:r>
          <a:r>
            <a:rPr lang="en-US" sz="2000" baseline="-25000" dirty="0" smtClean="0"/>
            <a:t> </a:t>
          </a:r>
          <a:r>
            <a:rPr lang="uk-UA" sz="2000" baseline="0" dirty="0" smtClean="0"/>
            <a:t>= 0,25%</a:t>
          </a:r>
          <a:endParaRPr lang="uk-UA" sz="2000" baseline="0" dirty="0"/>
        </a:p>
      </dgm:t>
    </dgm:pt>
    <dgm:pt modelId="{F2038774-A8BC-4143-9FE8-91BC9DD7EBDA}" type="parTrans" cxnId="{6B72DAA5-E241-4E9B-9752-5E1BA08D2930}">
      <dgm:prSet/>
      <dgm:spPr/>
      <dgm:t>
        <a:bodyPr/>
        <a:lstStyle/>
        <a:p>
          <a:endParaRPr lang="uk-UA"/>
        </a:p>
      </dgm:t>
    </dgm:pt>
    <dgm:pt modelId="{DBBD5867-F841-4DFF-AD15-09292E37FF11}" type="sibTrans" cxnId="{6B72DAA5-E241-4E9B-9752-5E1BA08D2930}">
      <dgm:prSet/>
      <dgm:spPr/>
      <dgm:t>
        <a:bodyPr/>
        <a:lstStyle/>
        <a:p>
          <a:endParaRPr lang="uk-UA"/>
        </a:p>
      </dgm:t>
    </dgm:pt>
    <dgm:pt modelId="{7857C5AE-91E9-4E21-94DE-72F4392059F4}">
      <dgm:prSet phldrT="[Текст]" custT="1"/>
      <dgm:spPr/>
      <dgm:t>
        <a:bodyPr/>
        <a:lstStyle/>
        <a:p>
          <a:r>
            <a:rPr lang="uk-UA" sz="2000" dirty="0" smtClean="0"/>
            <a:t>У земній корі</a:t>
          </a:r>
          <a:r>
            <a:rPr lang="en-US" sz="2000" dirty="0" smtClean="0"/>
            <a:t> </a:t>
          </a:r>
          <a:r>
            <a:rPr lang="ru-RU" sz="2000" dirty="0" smtClean="0"/>
            <a:t> </a:t>
          </a:r>
          <a:r>
            <a:rPr lang="en-US" sz="2000" i="0" dirty="0" smtClean="0"/>
            <a:t>w=</a:t>
          </a:r>
          <a:r>
            <a:rPr lang="uk-UA" sz="2000" i="0" dirty="0" smtClean="0"/>
            <a:t>0,02% </a:t>
          </a:r>
        </a:p>
      </dgm:t>
    </dgm:pt>
    <dgm:pt modelId="{0033449E-C7E2-4472-A14B-FFCE2585C6DC}" type="parTrans" cxnId="{00C0D5AC-3440-43FB-9FAE-AB5CAA6D9F4B}">
      <dgm:prSet/>
      <dgm:spPr/>
      <dgm:t>
        <a:bodyPr/>
        <a:lstStyle/>
        <a:p>
          <a:endParaRPr lang="uk-UA"/>
        </a:p>
      </dgm:t>
    </dgm:pt>
    <dgm:pt modelId="{ADA4AEEB-1564-4193-B61A-6B838FF934CA}" type="sibTrans" cxnId="{00C0D5AC-3440-43FB-9FAE-AB5CAA6D9F4B}">
      <dgm:prSet/>
      <dgm:spPr/>
      <dgm:t>
        <a:bodyPr/>
        <a:lstStyle/>
        <a:p>
          <a:endParaRPr lang="uk-UA"/>
        </a:p>
      </dgm:t>
    </dgm:pt>
    <dgm:pt modelId="{9FA443E9-7004-4709-B69D-F56A51578F3F}">
      <dgm:prSet phldrT="[Текст]" custT="1"/>
      <dgm:spPr/>
      <dgm:t>
        <a:bodyPr/>
        <a:lstStyle/>
        <a:p>
          <a:r>
            <a:rPr lang="uk-UA" sz="2000" dirty="0" smtClean="0"/>
            <a:t>Мінерали</a:t>
          </a:r>
          <a:endParaRPr lang="uk-UA" sz="2000" dirty="0"/>
        </a:p>
      </dgm:t>
    </dgm:pt>
    <dgm:pt modelId="{8A1AD516-9446-4F91-8BB5-0EF10FF5168B}" type="parTrans" cxnId="{28176C99-1772-48E3-9537-36A20C8F944D}">
      <dgm:prSet/>
      <dgm:spPr/>
      <dgm:t>
        <a:bodyPr/>
        <a:lstStyle/>
        <a:p>
          <a:endParaRPr lang="uk-UA"/>
        </a:p>
      </dgm:t>
    </dgm:pt>
    <dgm:pt modelId="{128E0DA8-1D0F-442F-AB26-C25F72AC78B6}" type="sibTrans" cxnId="{28176C99-1772-48E3-9537-36A20C8F944D}">
      <dgm:prSet/>
      <dgm:spPr/>
      <dgm:t>
        <a:bodyPr/>
        <a:lstStyle/>
        <a:p>
          <a:endParaRPr lang="uk-UA"/>
        </a:p>
      </dgm:t>
    </dgm:pt>
    <dgm:pt modelId="{F7F8A46E-3EFD-4B48-B0B7-7C1D76AEF4CB}">
      <dgm:prSet phldrT="[Текст]" custT="1"/>
      <dgm:spPr/>
      <dgm:t>
        <a:bodyPr/>
        <a:lstStyle/>
        <a:p>
          <a:r>
            <a:rPr lang="uk-UA" sz="2000" baseline="0" dirty="0" smtClean="0"/>
            <a:t>У морській воді</a:t>
          </a:r>
        </a:p>
        <a:p>
          <a:r>
            <a:rPr lang="en-US" sz="2000" dirty="0" smtClean="0"/>
            <a:t>Cl</a:t>
          </a:r>
          <a:r>
            <a:rPr lang="en-US" sz="2000" baseline="30000" dirty="0" smtClean="0"/>
            <a:t>-</a:t>
          </a:r>
          <a:endParaRPr lang="uk-UA" sz="2000" dirty="0"/>
        </a:p>
      </dgm:t>
    </dgm:pt>
    <dgm:pt modelId="{6DAD2588-01DE-45BF-A831-D9D0C9945810}" type="sibTrans" cxnId="{B7007A61-6FC1-4D11-8B5F-43C44FF34794}">
      <dgm:prSet/>
      <dgm:spPr/>
      <dgm:t>
        <a:bodyPr/>
        <a:lstStyle/>
        <a:p>
          <a:endParaRPr lang="uk-UA"/>
        </a:p>
      </dgm:t>
    </dgm:pt>
    <dgm:pt modelId="{F857DB59-C732-4D5F-A998-7B9F52CF023B}" type="parTrans" cxnId="{B7007A61-6FC1-4D11-8B5F-43C44FF34794}">
      <dgm:prSet/>
      <dgm:spPr/>
      <dgm:t>
        <a:bodyPr/>
        <a:lstStyle/>
        <a:p>
          <a:endParaRPr lang="uk-UA"/>
        </a:p>
      </dgm:t>
    </dgm:pt>
    <dgm:pt modelId="{AA664852-75D3-4581-8598-38A00ADBACF0}" type="pres">
      <dgm:prSet presAssocID="{7EA844B4-3B5A-4AAA-BB9B-C22AA03019A6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CDA324B-E7CB-4FB3-B6F9-954D150FE78A}" type="pres">
      <dgm:prSet presAssocID="{44601A57-A0DA-4F53-A78E-709EFBA9239D}" presName="centerShape" presStyleLbl="node0" presStyleIdx="0" presStyleCnt="1" custScaleY="131570"/>
      <dgm:spPr/>
      <dgm:t>
        <a:bodyPr/>
        <a:lstStyle/>
        <a:p>
          <a:endParaRPr lang="uk-UA"/>
        </a:p>
      </dgm:t>
    </dgm:pt>
    <dgm:pt modelId="{BD9AA21D-E2C2-4478-A712-ECBDFC37BFD5}" type="pres">
      <dgm:prSet presAssocID="{F857DB59-C732-4D5F-A998-7B9F52CF023B}" presName="Name9" presStyleLbl="parChTrans1D2" presStyleIdx="0" presStyleCnt="6"/>
      <dgm:spPr/>
      <dgm:t>
        <a:bodyPr/>
        <a:lstStyle/>
        <a:p>
          <a:endParaRPr lang="ru-RU"/>
        </a:p>
      </dgm:t>
    </dgm:pt>
    <dgm:pt modelId="{BD009FD6-6978-4DA5-908D-96E3153CBE4A}" type="pres">
      <dgm:prSet presAssocID="{F857DB59-C732-4D5F-A998-7B9F52CF023B}" presName="connTx" presStyleLbl="parChTrans1D2" presStyleIdx="0" presStyleCnt="6"/>
      <dgm:spPr/>
      <dgm:t>
        <a:bodyPr/>
        <a:lstStyle/>
        <a:p>
          <a:endParaRPr lang="ru-RU"/>
        </a:p>
      </dgm:t>
    </dgm:pt>
    <dgm:pt modelId="{7123B129-BC16-4B7A-95FC-53B4505CC376}" type="pres">
      <dgm:prSet presAssocID="{F7F8A46E-3EFD-4B48-B0B7-7C1D76AEF4CB}" presName="node" presStyleLbl="node1" presStyleIdx="0" presStyleCnt="6" custScaleX="192932" custScaleY="110905" custRadScaleRad="188170" custRadScaleInc="-35124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38C19231-2DC9-41A0-BA83-FCA15689AD36}" type="pres">
      <dgm:prSet presAssocID="{227DF3F0-CD83-439E-9D12-3BC155BE480C}" presName="Name9" presStyleLbl="parChTrans1D2" presStyleIdx="1" presStyleCnt="6"/>
      <dgm:spPr/>
      <dgm:t>
        <a:bodyPr/>
        <a:lstStyle/>
        <a:p>
          <a:endParaRPr lang="ru-RU"/>
        </a:p>
      </dgm:t>
    </dgm:pt>
    <dgm:pt modelId="{DF68BBE5-357C-4523-9590-A1F347F2E4D5}" type="pres">
      <dgm:prSet presAssocID="{227DF3F0-CD83-439E-9D12-3BC155BE480C}" presName="connTx" presStyleLbl="parChTrans1D2" presStyleIdx="1" presStyleCnt="6"/>
      <dgm:spPr/>
      <dgm:t>
        <a:bodyPr/>
        <a:lstStyle/>
        <a:p>
          <a:endParaRPr lang="ru-RU"/>
        </a:p>
      </dgm:t>
    </dgm:pt>
    <dgm:pt modelId="{3AA883B5-673D-4F6A-BC3F-C63551190151}" type="pres">
      <dgm:prSet presAssocID="{9BAA1B06-2D4C-4007-8721-18C2A91E620F}" presName="node" presStyleLbl="node1" presStyleIdx="1" presStyleCnt="6" custScaleX="188649" custRadScaleRad="182448" custRadScaleInc="14227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5C66D19-468E-4F7E-BD8C-44D86A955893}" type="pres">
      <dgm:prSet presAssocID="{A5EA1829-B9C6-4011-839B-C512CF9F6B3A}" presName="Name9" presStyleLbl="parChTrans1D2" presStyleIdx="2" presStyleCnt="6"/>
      <dgm:spPr/>
      <dgm:t>
        <a:bodyPr/>
        <a:lstStyle/>
        <a:p>
          <a:endParaRPr lang="ru-RU"/>
        </a:p>
      </dgm:t>
    </dgm:pt>
    <dgm:pt modelId="{3B1C7C27-4E82-4B46-86B1-8E884F95A139}" type="pres">
      <dgm:prSet presAssocID="{A5EA1829-B9C6-4011-839B-C512CF9F6B3A}" presName="connTx" presStyleLbl="parChTrans1D2" presStyleIdx="2" presStyleCnt="6"/>
      <dgm:spPr/>
      <dgm:t>
        <a:bodyPr/>
        <a:lstStyle/>
        <a:p>
          <a:endParaRPr lang="ru-RU"/>
        </a:p>
      </dgm:t>
    </dgm:pt>
    <dgm:pt modelId="{BCEBD3DF-A3CE-43C1-A0E7-3EDF65410C62}" type="pres">
      <dgm:prSet presAssocID="{8958C0D8-5C50-4080-9DF5-76F4EA1CD7B0}" presName="node" presStyleLbl="node1" presStyleIdx="2" presStyleCnt="6" custScaleX="170895" custRadScaleRad="262587" custRadScaleInc="-117816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8F166F6A-F56D-48A0-A41C-F831BE56C720}" type="pres">
      <dgm:prSet presAssocID="{F2038774-A8BC-4143-9FE8-91BC9DD7EBDA}" presName="Name9" presStyleLbl="parChTrans1D2" presStyleIdx="3" presStyleCnt="6"/>
      <dgm:spPr/>
      <dgm:t>
        <a:bodyPr/>
        <a:lstStyle/>
        <a:p>
          <a:endParaRPr lang="ru-RU"/>
        </a:p>
      </dgm:t>
    </dgm:pt>
    <dgm:pt modelId="{67033968-A2AC-4577-B908-9A0B7473E27C}" type="pres">
      <dgm:prSet presAssocID="{F2038774-A8BC-4143-9FE8-91BC9DD7EBDA}" presName="connTx" presStyleLbl="parChTrans1D2" presStyleIdx="3" presStyleCnt="6"/>
      <dgm:spPr/>
      <dgm:t>
        <a:bodyPr/>
        <a:lstStyle/>
        <a:p>
          <a:endParaRPr lang="ru-RU"/>
        </a:p>
      </dgm:t>
    </dgm:pt>
    <dgm:pt modelId="{802BA96D-2826-404A-AD93-6107496A697F}" type="pres">
      <dgm:prSet presAssocID="{8F5F589E-3A66-4B14-88C7-1E3970303D0F}" presName="node" presStyleLbl="node1" presStyleIdx="3" presStyleCnt="6" custScaleX="227420" custScaleY="128036" custRadScaleRad="182126" custRadScaleInc="-415078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C5EC774-5D0D-4366-B9BC-47C49D4AADEC}" type="pres">
      <dgm:prSet presAssocID="{8A1AD516-9446-4F91-8BB5-0EF10FF5168B}" presName="Name9" presStyleLbl="parChTrans1D2" presStyleIdx="4" presStyleCnt="6"/>
      <dgm:spPr/>
      <dgm:t>
        <a:bodyPr/>
        <a:lstStyle/>
        <a:p>
          <a:endParaRPr lang="ru-RU"/>
        </a:p>
      </dgm:t>
    </dgm:pt>
    <dgm:pt modelId="{0D2A3EB9-E8E9-4121-943A-03EDCFC98142}" type="pres">
      <dgm:prSet presAssocID="{8A1AD516-9446-4F91-8BB5-0EF10FF5168B}" presName="connTx" presStyleLbl="parChTrans1D2" presStyleIdx="4" presStyleCnt="6"/>
      <dgm:spPr/>
      <dgm:t>
        <a:bodyPr/>
        <a:lstStyle/>
        <a:p>
          <a:endParaRPr lang="ru-RU"/>
        </a:p>
      </dgm:t>
    </dgm:pt>
    <dgm:pt modelId="{9020EC0A-E19E-44E1-B97E-9F64F7AE5584}" type="pres">
      <dgm:prSet presAssocID="{9FA443E9-7004-4709-B69D-F56A51578F3F}" presName="node" presStyleLbl="node1" presStyleIdx="4" presStyleCnt="6" custScaleX="171194" custRadScaleRad="255499" custRadScaleInc="113698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E513FAD-1A45-4BFC-9667-3E21776D7189}" type="pres">
      <dgm:prSet presAssocID="{0033449E-C7E2-4472-A14B-FFCE2585C6DC}" presName="Name9" presStyleLbl="parChTrans1D2" presStyleIdx="5" presStyleCnt="6"/>
      <dgm:spPr/>
      <dgm:t>
        <a:bodyPr/>
        <a:lstStyle/>
        <a:p>
          <a:endParaRPr lang="ru-RU"/>
        </a:p>
      </dgm:t>
    </dgm:pt>
    <dgm:pt modelId="{AE909A3F-508C-436B-9B59-0869269BC77B}" type="pres">
      <dgm:prSet presAssocID="{0033449E-C7E2-4472-A14B-FFCE2585C6DC}" presName="connTx" presStyleLbl="parChTrans1D2" presStyleIdx="5" presStyleCnt="6"/>
      <dgm:spPr/>
      <dgm:t>
        <a:bodyPr/>
        <a:lstStyle/>
        <a:p>
          <a:endParaRPr lang="ru-RU"/>
        </a:p>
      </dgm:t>
    </dgm:pt>
    <dgm:pt modelId="{AC1C33B6-F496-4FC4-8969-25188BA45EAB}" type="pres">
      <dgm:prSet presAssocID="{7857C5AE-91E9-4E21-94DE-72F4392059F4}" presName="node" presStyleLbl="node1" presStyleIdx="5" presStyleCnt="6" custScaleX="197321" custScaleY="128009" custRadScaleRad="172761" custRadScaleInc="785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42BA7ED5-C8B0-4FDE-98B6-E1D9097A5ACF}" type="presOf" srcId="{227DF3F0-CD83-439E-9D12-3BC155BE480C}" destId="{38C19231-2DC9-41A0-BA83-FCA15689AD36}" srcOrd="0" destOrd="0" presId="urn:microsoft.com/office/officeart/2005/8/layout/radial1"/>
    <dgm:cxn modelId="{E5B7B2B0-7BF0-4F80-B55A-0EB7682CD99E}" type="presOf" srcId="{8A1AD516-9446-4F91-8BB5-0EF10FF5168B}" destId="{0D2A3EB9-E8E9-4121-943A-03EDCFC98142}" srcOrd="1" destOrd="0" presId="urn:microsoft.com/office/officeart/2005/8/layout/radial1"/>
    <dgm:cxn modelId="{CFDF196D-4F68-481A-8A03-22ADA7C0333D}" type="presOf" srcId="{F857DB59-C732-4D5F-A998-7B9F52CF023B}" destId="{BD9AA21D-E2C2-4478-A712-ECBDFC37BFD5}" srcOrd="0" destOrd="0" presId="urn:microsoft.com/office/officeart/2005/8/layout/radial1"/>
    <dgm:cxn modelId="{BE5E8CE6-DCDE-4E65-BFC9-F764CCA7C6F1}" type="presOf" srcId="{7EA844B4-3B5A-4AAA-BB9B-C22AA03019A6}" destId="{AA664852-75D3-4581-8598-38A00ADBACF0}" srcOrd="0" destOrd="0" presId="urn:microsoft.com/office/officeart/2005/8/layout/radial1"/>
    <dgm:cxn modelId="{8AAA062F-726C-4F1C-8399-CA8D345DAC62}" srcId="{44601A57-A0DA-4F53-A78E-709EFBA9239D}" destId="{8958C0D8-5C50-4080-9DF5-76F4EA1CD7B0}" srcOrd="2" destOrd="0" parTransId="{A5EA1829-B9C6-4011-839B-C512CF9F6B3A}" sibTransId="{8073751B-4473-47A4-97CA-A3E174E3C06A}"/>
    <dgm:cxn modelId="{28176C99-1772-48E3-9537-36A20C8F944D}" srcId="{44601A57-A0DA-4F53-A78E-709EFBA9239D}" destId="{9FA443E9-7004-4709-B69D-F56A51578F3F}" srcOrd="4" destOrd="0" parTransId="{8A1AD516-9446-4F91-8BB5-0EF10FF5168B}" sibTransId="{128E0DA8-1D0F-442F-AB26-C25F72AC78B6}"/>
    <dgm:cxn modelId="{85953F51-0F04-4ACF-A387-DB8374579585}" type="presOf" srcId="{7857C5AE-91E9-4E21-94DE-72F4392059F4}" destId="{AC1C33B6-F496-4FC4-8969-25188BA45EAB}" srcOrd="0" destOrd="0" presId="urn:microsoft.com/office/officeart/2005/8/layout/radial1"/>
    <dgm:cxn modelId="{CC5D4278-C084-4787-AB5F-EE1D1312281F}" srcId="{44601A57-A0DA-4F53-A78E-709EFBA9239D}" destId="{9BAA1B06-2D4C-4007-8721-18C2A91E620F}" srcOrd="1" destOrd="0" parTransId="{227DF3F0-CD83-439E-9D12-3BC155BE480C}" sibTransId="{B7B49466-765F-4B89-A387-0E890FF1D8CE}"/>
    <dgm:cxn modelId="{4C50A425-3FFC-4D8A-966A-0487FA707D28}" type="presOf" srcId="{F2038774-A8BC-4143-9FE8-91BC9DD7EBDA}" destId="{67033968-A2AC-4577-B908-9A0B7473E27C}" srcOrd="1" destOrd="0" presId="urn:microsoft.com/office/officeart/2005/8/layout/radial1"/>
    <dgm:cxn modelId="{29F3BC79-75A3-4528-A49D-382E89EBEC94}" type="presOf" srcId="{F2038774-A8BC-4143-9FE8-91BC9DD7EBDA}" destId="{8F166F6A-F56D-48A0-A41C-F831BE56C720}" srcOrd="0" destOrd="0" presId="urn:microsoft.com/office/officeart/2005/8/layout/radial1"/>
    <dgm:cxn modelId="{F99EF041-0D48-48D1-9EAA-D0282426C9B6}" type="presOf" srcId="{8958C0D8-5C50-4080-9DF5-76F4EA1CD7B0}" destId="{BCEBD3DF-A3CE-43C1-A0E7-3EDF65410C62}" srcOrd="0" destOrd="0" presId="urn:microsoft.com/office/officeart/2005/8/layout/radial1"/>
    <dgm:cxn modelId="{6C51A084-6690-48A6-98BA-320CA451B5EB}" type="presOf" srcId="{8F5F589E-3A66-4B14-88C7-1E3970303D0F}" destId="{802BA96D-2826-404A-AD93-6107496A697F}" srcOrd="0" destOrd="0" presId="urn:microsoft.com/office/officeart/2005/8/layout/radial1"/>
    <dgm:cxn modelId="{948A5250-00EE-449F-89BF-1B5DA10585EB}" type="presOf" srcId="{A5EA1829-B9C6-4011-839B-C512CF9F6B3A}" destId="{25C66D19-468E-4F7E-BD8C-44D86A955893}" srcOrd="0" destOrd="0" presId="urn:microsoft.com/office/officeart/2005/8/layout/radial1"/>
    <dgm:cxn modelId="{00C0D5AC-3440-43FB-9FAE-AB5CAA6D9F4B}" srcId="{44601A57-A0DA-4F53-A78E-709EFBA9239D}" destId="{7857C5AE-91E9-4E21-94DE-72F4392059F4}" srcOrd="5" destOrd="0" parTransId="{0033449E-C7E2-4472-A14B-FFCE2585C6DC}" sibTransId="{ADA4AEEB-1564-4193-B61A-6B838FF934CA}"/>
    <dgm:cxn modelId="{26D8FDE0-928B-464B-BE6E-E946410D04E4}" type="presOf" srcId="{8A1AD516-9446-4F91-8BB5-0EF10FF5168B}" destId="{1C5EC774-5D0D-4366-B9BC-47C49D4AADEC}" srcOrd="0" destOrd="0" presId="urn:microsoft.com/office/officeart/2005/8/layout/radial1"/>
    <dgm:cxn modelId="{4DE6F87C-F875-4665-9A41-590F1350B84F}" type="presOf" srcId="{227DF3F0-CD83-439E-9D12-3BC155BE480C}" destId="{DF68BBE5-357C-4523-9590-A1F347F2E4D5}" srcOrd="1" destOrd="0" presId="urn:microsoft.com/office/officeart/2005/8/layout/radial1"/>
    <dgm:cxn modelId="{6B72DAA5-E241-4E9B-9752-5E1BA08D2930}" srcId="{44601A57-A0DA-4F53-A78E-709EFBA9239D}" destId="{8F5F589E-3A66-4B14-88C7-1E3970303D0F}" srcOrd="3" destOrd="0" parTransId="{F2038774-A8BC-4143-9FE8-91BC9DD7EBDA}" sibTransId="{DBBD5867-F841-4DFF-AD15-09292E37FF11}"/>
    <dgm:cxn modelId="{D182E768-7403-4A25-8E1B-C0779EBDD2BA}" type="presOf" srcId="{44601A57-A0DA-4F53-A78E-709EFBA9239D}" destId="{FCDA324B-E7CB-4FB3-B6F9-954D150FE78A}" srcOrd="0" destOrd="0" presId="urn:microsoft.com/office/officeart/2005/8/layout/radial1"/>
    <dgm:cxn modelId="{0590C0E2-A777-4125-90AA-FD4AA7CD359D}" type="presOf" srcId="{9BAA1B06-2D4C-4007-8721-18C2A91E620F}" destId="{3AA883B5-673D-4F6A-BC3F-C63551190151}" srcOrd="0" destOrd="0" presId="urn:microsoft.com/office/officeart/2005/8/layout/radial1"/>
    <dgm:cxn modelId="{398300FF-7797-450B-AD38-932BEC983300}" srcId="{7EA844B4-3B5A-4AAA-BB9B-C22AA03019A6}" destId="{44601A57-A0DA-4F53-A78E-709EFBA9239D}" srcOrd="0" destOrd="0" parTransId="{2026D549-6AFB-4424-A2AC-84238799F6FA}" sibTransId="{EBFCE9A1-716B-45EA-9E06-54EAA844F7C1}"/>
    <dgm:cxn modelId="{D3FBFAA8-4286-4C62-BF67-A5E4B07B975D}" type="presOf" srcId="{0033449E-C7E2-4472-A14B-FFCE2585C6DC}" destId="{7E513FAD-1A45-4BFC-9667-3E21776D7189}" srcOrd="0" destOrd="0" presId="urn:microsoft.com/office/officeart/2005/8/layout/radial1"/>
    <dgm:cxn modelId="{B7007A61-6FC1-4D11-8B5F-43C44FF34794}" srcId="{44601A57-A0DA-4F53-A78E-709EFBA9239D}" destId="{F7F8A46E-3EFD-4B48-B0B7-7C1D76AEF4CB}" srcOrd="0" destOrd="0" parTransId="{F857DB59-C732-4D5F-A998-7B9F52CF023B}" sibTransId="{6DAD2588-01DE-45BF-A831-D9D0C9945810}"/>
    <dgm:cxn modelId="{05DBD01F-E4DD-485E-A488-2855D1516C67}" type="presOf" srcId="{F857DB59-C732-4D5F-A998-7B9F52CF023B}" destId="{BD009FD6-6978-4DA5-908D-96E3153CBE4A}" srcOrd="1" destOrd="0" presId="urn:microsoft.com/office/officeart/2005/8/layout/radial1"/>
    <dgm:cxn modelId="{94F2F93D-B077-4653-8384-D4211B71705C}" type="presOf" srcId="{A5EA1829-B9C6-4011-839B-C512CF9F6B3A}" destId="{3B1C7C27-4E82-4B46-86B1-8E884F95A139}" srcOrd="1" destOrd="0" presId="urn:microsoft.com/office/officeart/2005/8/layout/radial1"/>
    <dgm:cxn modelId="{D4C03378-D0AE-4BD3-8169-DAA51714B44B}" type="presOf" srcId="{F7F8A46E-3EFD-4B48-B0B7-7C1D76AEF4CB}" destId="{7123B129-BC16-4B7A-95FC-53B4505CC376}" srcOrd="0" destOrd="0" presId="urn:microsoft.com/office/officeart/2005/8/layout/radial1"/>
    <dgm:cxn modelId="{C3E95C92-B230-4B40-829A-428776CE8411}" type="presOf" srcId="{9FA443E9-7004-4709-B69D-F56A51578F3F}" destId="{9020EC0A-E19E-44E1-B97E-9F64F7AE5584}" srcOrd="0" destOrd="0" presId="urn:microsoft.com/office/officeart/2005/8/layout/radial1"/>
    <dgm:cxn modelId="{2166D26A-321A-4F3B-81D4-C06CA1794E9F}" type="presOf" srcId="{0033449E-C7E2-4472-A14B-FFCE2585C6DC}" destId="{AE909A3F-508C-436B-9B59-0869269BC77B}" srcOrd="1" destOrd="0" presId="urn:microsoft.com/office/officeart/2005/8/layout/radial1"/>
    <dgm:cxn modelId="{A8FFE962-3CF2-4630-9369-F4EB810B91DC}" type="presParOf" srcId="{AA664852-75D3-4581-8598-38A00ADBACF0}" destId="{FCDA324B-E7CB-4FB3-B6F9-954D150FE78A}" srcOrd="0" destOrd="0" presId="urn:microsoft.com/office/officeart/2005/8/layout/radial1"/>
    <dgm:cxn modelId="{B3F4E090-8F70-4F20-8312-27B2264E26B6}" type="presParOf" srcId="{AA664852-75D3-4581-8598-38A00ADBACF0}" destId="{BD9AA21D-E2C2-4478-A712-ECBDFC37BFD5}" srcOrd="1" destOrd="0" presId="urn:microsoft.com/office/officeart/2005/8/layout/radial1"/>
    <dgm:cxn modelId="{FA0D8E09-942E-4D05-8C11-46F29C5170B6}" type="presParOf" srcId="{BD9AA21D-E2C2-4478-A712-ECBDFC37BFD5}" destId="{BD009FD6-6978-4DA5-908D-96E3153CBE4A}" srcOrd="0" destOrd="0" presId="urn:microsoft.com/office/officeart/2005/8/layout/radial1"/>
    <dgm:cxn modelId="{08B0DDB1-9360-45D1-971E-88E2ED651DF8}" type="presParOf" srcId="{AA664852-75D3-4581-8598-38A00ADBACF0}" destId="{7123B129-BC16-4B7A-95FC-53B4505CC376}" srcOrd="2" destOrd="0" presId="urn:microsoft.com/office/officeart/2005/8/layout/radial1"/>
    <dgm:cxn modelId="{A325B74E-F33F-416A-A575-39BE872B3C4E}" type="presParOf" srcId="{AA664852-75D3-4581-8598-38A00ADBACF0}" destId="{38C19231-2DC9-41A0-BA83-FCA15689AD36}" srcOrd="3" destOrd="0" presId="urn:microsoft.com/office/officeart/2005/8/layout/radial1"/>
    <dgm:cxn modelId="{05F15C8C-7823-47C4-8376-4082B24E0392}" type="presParOf" srcId="{38C19231-2DC9-41A0-BA83-FCA15689AD36}" destId="{DF68BBE5-357C-4523-9590-A1F347F2E4D5}" srcOrd="0" destOrd="0" presId="urn:microsoft.com/office/officeart/2005/8/layout/radial1"/>
    <dgm:cxn modelId="{1E15505D-1647-4108-A477-3F8F2AEA542E}" type="presParOf" srcId="{AA664852-75D3-4581-8598-38A00ADBACF0}" destId="{3AA883B5-673D-4F6A-BC3F-C63551190151}" srcOrd="4" destOrd="0" presId="urn:microsoft.com/office/officeart/2005/8/layout/radial1"/>
    <dgm:cxn modelId="{354AB61E-4205-4138-9DE4-28B399E42DB1}" type="presParOf" srcId="{AA664852-75D3-4581-8598-38A00ADBACF0}" destId="{25C66D19-468E-4F7E-BD8C-44D86A955893}" srcOrd="5" destOrd="0" presId="urn:microsoft.com/office/officeart/2005/8/layout/radial1"/>
    <dgm:cxn modelId="{2F483D54-31A5-4AD5-AA85-5A35B1AFFACD}" type="presParOf" srcId="{25C66D19-468E-4F7E-BD8C-44D86A955893}" destId="{3B1C7C27-4E82-4B46-86B1-8E884F95A139}" srcOrd="0" destOrd="0" presId="urn:microsoft.com/office/officeart/2005/8/layout/radial1"/>
    <dgm:cxn modelId="{971DB9F2-590B-4FDE-A4AD-EA8F84E51E37}" type="presParOf" srcId="{AA664852-75D3-4581-8598-38A00ADBACF0}" destId="{BCEBD3DF-A3CE-43C1-A0E7-3EDF65410C62}" srcOrd="6" destOrd="0" presId="urn:microsoft.com/office/officeart/2005/8/layout/radial1"/>
    <dgm:cxn modelId="{B82A4689-F2F6-4368-8EFD-E21656EA2F35}" type="presParOf" srcId="{AA664852-75D3-4581-8598-38A00ADBACF0}" destId="{8F166F6A-F56D-48A0-A41C-F831BE56C720}" srcOrd="7" destOrd="0" presId="urn:microsoft.com/office/officeart/2005/8/layout/radial1"/>
    <dgm:cxn modelId="{7D21BBEC-C964-4FD9-88EE-DCD9286226A2}" type="presParOf" srcId="{8F166F6A-F56D-48A0-A41C-F831BE56C720}" destId="{67033968-A2AC-4577-B908-9A0B7473E27C}" srcOrd="0" destOrd="0" presId="urn:microsoft.com/office/officeart/2005/8/layout/radial1"/>
    <dgm:cxn modelId="{DDAA2A50-B052-4D9F-AB14-CB72BE8F9A0D}" type="presParOf" srcId="{AA664852-75D3-4581-8598-38A00ADBACF0}" destId="{802BA96D-2826-404A-AD93-6107496A697F}" srcOrd="8" destOrd="0" presId="urn:microsoft.com/office/officeart/2005/8/layout/radial1"/>
    <dgm:cxn modelId="{D40F8273-48ED-42DC-BFD5-4B384E67C739}" type="presParOf" srcId="{AA664852-75D3-4581-8598-38A00ADBACF0}" destId="{1C5EC774-5D0D-4366-B9BC-47C49D4AADEC}" srcOrd="9" destOrd="0" presId="urn:microsoft.com/office/officeart/2005/8/layout/radial1"/>
    <dgm:cxn modelId="{8AEF3D4E-1225-4B78-934A-15836ED103B9}" type="presParOf" srcId="{1C5EC774-5D0D-4366-B9BC-47C49D4AADEC}" destId="{0D2A3EB9-E8E9-4121-943A-03EDCFC98142}" srcOrd="0" destOrd="0" presId="urn:microsoft.com/office/officeart/2005/8/layout/radial1"/>
    <dgm:cxn modelId="{E01FDC5B-A55B-43D5-AA24-09872CBB94DC}" type="presParOf" srcId="{AA664852-75D3-4581-8598-38A00ADBACF0}" destId="{9020EC0A-E19E-44E1-B97E-9F64F7AE5584}" srcOrd="10" destOrd="0" presId="urn:microsoft.com/office/officeart/2005/8/layout/radial1"/>
    <dgm:cxn modelId="{81F74059-6E3A-472E-8489-513D2AD0F315}" type="presParOf" srcId="{AA664852-75D3-4581-8598-38A00ADBACF0}" destId="{7E513FAD-1A45-4BFC-9667-3E21776D7189}" srcOrd="11" destOrd="0" presId="urn:microsoft.com/office/officeart/2005/8/layout/radial1"/>
    <dgm:cxn modelId="{E7BC0B5E-8513-4E90-AF48-ADE0A6AC1D33}" type="presParOf" srcId="{7E513FAD-1A45-4BFC-9667-3E21776D7189}" destId="{AE909A3F-508C-436B-9B59-0869269BC77B}" srcOrd="0" destOrd="0" presId="urn:microsoft.com/office/officeart/2005/8/layout/radial1"/>
    <dgm:cxn modelId="{5F082D75-D8CF-4769-BB9A-4BC71A423F44}" type="presParOf" srcId="{AA664852-75D3-4581-8598-38A00ADBACF0}" destId="{AC1C33B6-F496-4FC4-8969-25188BA45EAB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A844B4-3B5A-4AAA-BB9B-C22AA03019A6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4601A57-A0DA-4F53-A78E-709EFBA9239D}">
      <dgm:prSet phldrT="[Текст]"/>
      <dgm:spPr/>
      <dgm:t>
        <a:bodyPr/>
        <a:lstStyle/>
        <a:p>
          <a:r>
            <a:rPr lang="en-US" dirty="0" smtClean="0"/>
            <a:t>Br</a:t>
          </a:r>
          <a:endParaRPr lang="uk-UA" dirty="0"/>
        </a:p>
      </dgm:t>
    </dgm:pt>
    <dgm:pt modelId="{2026D549-6AFB-4424-A2AC-84238799F6FA}" type="parTrans" cxnId="{398300FF-7797-450B-AD38-932BEC983300}">
      <dgm:prSet/>
      <dgm:spPr/>
      <dgm:t>
        <a:bodyPr/>
        <a:lstStyle/>
        <a:p>
          <a:endParaRPr lang="uk-UA"/>
        </a:p>
      </dgm:t>
    </dgm:pt>
    <dgm:pt modelId="{EBFCE9A1-716B-45EA-9E06-54EAA844F7C1}" type="sibTrans" cxnId="{398300FF-7797-450B-AD38-932BEC983300}">
      <dgm:prSet/>
      <dgm:spPr/>
      <dgm:t>
        <a:bodyPr/>
        <a:lstStyle/>
        <a:p>
          <a:endParaRPr lang="uk-UA"/>
        </a:p>
      </dgm:t>
    </dgm:pt>
    <dgm:pt modelId="{F7F8A46E-3EFD-4B48-B0B7-7C1D76AEF4CB}">
      <dgm:prSet phldrT="[Текст]" custT="1"/>
      <dgm:spPr/>
      <dgm:t>
        <a:bodyPr/>
        <a:lstStyle/>
        <a:p>
          <a:r>
            <a:rPr lang="en-US" sz="2000" dirty="0" smtClean="0"/>
            <a:t>Br </a:t>
          </a:r>
          <a:r>
            <a:rPr lang="uk-UA" sz="2000" baseline="0" dirty="0" smtClean="0"/>
            <a:t>як супутник в складі калійних мінералів </a:t>
          </a:r>
          <a:endParaRPr lang="uk-UA" sz="2000" baseline="0" dirty="0"/>
        </a:p>
      </dgm:t>
    </dgm:pt>
    <dgm:pt modelId="{F857DB59-C732-4D5F-A998-7B9F52CF023B}" type="parTrans" cxnId="{B7007A61-6FC1-4D11-8B5F-43C44FF34794}">
      <dgm:prSet/>
      <dgm:spPr/>
      <dgm:t>
        <a:bodyPr/>
        <a:lstStyle/>
        <a:p>
          <a:endParaRPr lang="uk-UA"/>
        </a:p>
      </dgm:t>
    </dgm:pt>
    <dgm:pt modelId="{6DAD2588-01DE-45BF-A831-D9D0C9945810}" type="sibTrans" cxnId="{B7007A61-6FC1-4D11-8B5F-43C44FF34794}">
      <dgm:prSet/>
      <dgm:spPr/>
      <dgm:t>
        <a:bodyPr/>
        <a:lstStyle/>
        <a:p>
          <a:endParaRPr lang="uk-UA"/>
        </a:p>
      </dgm:t>
    </dgm:pt>
    <dgm:pt modelId="{9BAA1B06-2D4C-4007-8721-18C2A91E620F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uk-UA" sz="2000" dirty="0" smtClean="0"/>
            <a:t>В організмі людини (250 мг)</a:t>
          </a:r>
          <a:endParaRPr lang="uk-UA" sz="2000" dirty="0"/>
        </a:p>
      </dgm:t>
    </dgm:pt>
    <dgm:pt modelId="{227DF3F0-CD83-439E-9D12-3BC155BE480C}" type="parTrans" cxnId="{CC5D4278-C084-4787-AB5F-EE1D1312281F}">
      <dgm:prSet/>
      <dgm:spPr/>
      <dgm:t>
        <a:bodyPr/>
        <a:lstStyle/>
        <a:p>
          <a:endParaRPr lang="uk-UA"/>
        </a:p>
      </dgm:t>
    </dgm:pt>
    <dgm:pt modelId="{B7B49466-765F-4B89-A387-0E890FF1D8CE}" type="sibTrans" cxnId="{CC5D4278-C084-4787-AB5F-EE1D1312281F}">
      <dgm:prSet/>
      <dgm:spPr/>
      <dgm:t>
        <a:bodyPr/>
        <a:lstStyle/>
        <a:p>
          <a:endParaRPr lang="uk-UA"/>
        </a:p>
      </dgm:t>
    </dgm:pt>
    <dgm:pt modelId="{8F5F589E-3A66-4B14-88C7-1E3970303D0F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uk-UA" sz="2000" baseline="0" dirty="0" smtClean="0"/>
            <a:t>Щитовидна залоза, підшлункова залоза</a:t>
          </a:r>
          <a:endParaRPr lang="uk-UA" sz="2000" baseline="0" dirty="0"/>
        </a:p>
      </dgm:t>
    </dgm:pt>
    <dgm:pt modelId="{F2038774-A8BC-4143-9FE8-91BC9DD7EBDA}" type="parTrans" cxnId="{6B72DAA5-E241-4E9B-9752-5E1BA08D2930}">
      <dgm:prSet/>
      <dgm:spPr/>
      <dgm:t>
        <a:bodyPr/>
        <a:lstStyle/>
        <a:p>
          <a:endParaRPr lang="uk-UA"/>
        </a:p>
      </dgm:t>
    </dgm:pt>
    <dgm:pt modelId="{DBBD5867-F841-4DFF-AD15-09292E37FF11}" type="sibTrans" cxnId="{6B72DAA5-E241-4E9B-9752-5E1BA08D2930}">
      <dgm:prSet/>
      <dgm:spPr/>
      <dgm:t>
        <a:bodyPr/>
        <a:lstStyle/>
        <a:p>
          <a:endParaRPr lang="uk-UA"/>
        </a:p>
      </dgm:t>
    </dgm:pt>
    <dgm:pt modelId="{7857C5AE-91E9-4E21-94DE-72F4392059F4}">
      <dgm:prSet phldrT="[Текст]" custT="1"/>
      <dgm:spPr/>
      <dgm:t>
        <a:bodyPr/>
        <a:lstStyle/>
        <a:p>
          <a:pPr>
            <a:spcAft>
              <a:spcPts val="0"/>
            </a:spcAft>
          </a:pPr>
          <a:r>
            <a:rPr lang="uk-UA" sz="2000" i="0" dirty="0" smtClean="0"/>
            <a:t>У морській воді</a:t>
          </a:r>
          <a:r>
            <a:rPr lang="en-US" sz="2000" i="0" dirty="0" smtClean="0"/>
            <a:t> </a:t>
          </a:r>
        </a:p>
        <a:p>
          <a:pPr>
            <a:spcAft>
              <a:spcPts val="0"/>
            </a:spcAft>
          </a:pPr>
          <a:r>
            <a:rPr lang="en-US" sz="2000" i="0" dirty="0" smtClean="0"/>
            <a:t>w(Br</a:t>
          </a:r>
          <a:r>
            <a:rPr lang="en-US" sz="2000" baseline="30000" dirty="0" smtClean="0"/>
            <a:t>-</a:t>
          </a:r>
          <a:r>
            <a:rPr lang="en-US" sz="2000" i="0" dirty="0" smtClean="0"/>
            <a:t>)=</a:t>
          </a:r>
          <a:r>
            <a:rPr lang="uk-UA" sz="2000" i="0" dirty="0" smtClean="0"/>
            <a:t>0,065%</a:t>
          </a:r>
          <a:endParaRPr lang="uk-UA" sz="2000" i="0" dirty="0"/>
        </a:p>
      </dgm:t>
    </dgm:pt>
    <dgm:pt modelId="{0033449E-C7E2-4472-A14B-FFCE2585C6DC}" type="parTrans" cxnId="{00C0D5AC-3440-43FB-9FAE-AB5CAA6D9F4B}">
      <dgm:prSet/>
      <dgm:spPr/>
      <dgm:t>
        <a:bodyPr/>
        <a:lstStyle/>
        <a:p>
          <a:endParaRPr lang="uk-UA"/>
        </a:p>
      </dgm:t>
    </dgm:pt>
    <dgm:pt modelId="{ADA4AEEB-1564-4193-B61A-6B838FF934CA}" type="sibTrans" cxnId="{00C0D5AC-3440-43FB-9FAE-AB5CAA6D9F4B}">
      <dgm:prSet/>
      <dgm:spPr/>
      <dgm:t>
        <a:bodyPr/>
        <a:lstStyle/>
        <a:p>
          <a:endParaRPr lang="uk-UA"/>
        </a:p>
      </dgm:t>
    </dgm:pt>
    <dgm:pt modelId="{9FA443E9-7004-4709-B69D-F56A51578F3F}">
      <dgm:prSet phldrT="[Текст]" custT="1"/>
      <dgm:spPr/>
      <dgm:t>
        <a:bodyPr/>
        <a:lstStyle/>
        <a:p>
          <a:r>
            <a:rPr lang="uk-UA" sz="2000" i="0" dirty="0" smtClean="0"/>
            <a:t>Розсоли соляних озер </a:t>
          </a:r>
          <a:r>
            <a:rPr lang="en-US" sz="2000" i="0" dirty="0" smtClean="0"/>
            <a:t>w(Br</a:t>
          </a:r>
          <a:r>
            <a:rPr lang="en-US" sz="2000" baseline="30000" dirty="0" smtClean="0"/>
            <a:t>-</a:t>
          </a:r>
          <a:r>
            <a:rPr lang="en-US" sz="2000" i="0" dirty="0" smtClean="0"/>
            <a:t>)=</a:t>
          </a:r>
          <a:r>
            <a:rPr lang="uk-UA" sz="2000" i="0" dirty="0" smtClean="0"/>
            <a:t>0,2% </a:t>
          </a:r>
          <a:endParaRPr lang="uk-UA" sz="2000" i="0" dirty="0"/>
        </a:p>
      </dgm:t>
    </dgm:pt>
    <dgm:pt modelId="{8A1AD516-9446-4F91-8BB5-0EF10FF5168B}" type="parTrans" cxnId="{28176C99-1772-48E3-9537-36A20C8F944D}">
      <dgm:prSet/>
      <dgm:spPr/>
      <dgm:t>
        <a:bodyPr/>
        <a:lstStyle/>
        <a:p>
          <a:endParaRPr lang="uk-UA"/>
        </a:p>
      </dgm:t>
    </dgm:pt>
    <dgm:pt modelId="{128E0DA8-1D0F-442F-AB26-C25F72AC78B6}" type="sibTrans" cxnId="{28176C99-1772-48E3-9537-36A20C8F944D}">
      <dgm:prSet/>
      <dgm:spPr/>
      <dgm:t>
        <a:bodyPr/>
        <a:lstStyle/>
        <a:p>
          <a:endParaRPr lang="uk-UA"/>
        </a:p>
      </dgm:t>
    </dgm:pt>
    <dgm:pt modelId="{8958C0D8-5C50-4080-9DF5-76F4EA1CD7B0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uk-UA" sz="2000" baseline="0" dirty="0" smtClean="0"/>
            <a:t>Кісткова тканина, м'язи, кров </a:t>
          </a:r>
          <a:endParaRPr lang="uk-UA" sz="2000" dirty="0"/>
        </a:p>
      </dgm:t>
    </dgm:pt>
    <dgm:pt modelId="{8073751B-4473-47A4-97CA-A3E174E3C06A}" type="sibTrans" cxnId="{8AAA062F-726C-4F1C-8399-CA8D345DAC62}">
      <dgm:prSet/>
      <dgm:spPr/>
      <dgm:t>
        <a:bodyPr/>
        <a:lstStyle/>
        <a:p>
          <a:endParaRPr lang="uk-UA"/>
        </a:p>
      </dgm:t>
    </dgm:pt>
    <dgm:pt modelId="{A5EA1829-B9C6-4011-839B-C512CF9F6B3A}" type="parTrans" cxnId="{8AAA062F-726C-4F1C-8399-CA8D345DAC62}">
      <dgm:prSet/>
      <dgm:spPr/>
      <dgm:t>
        <a:bodyPr/>
        <a:lstStyle/>
        <a:p>
          <a:endParaRPr lang="uk-UA"/>
        </a:p>
      </dgm:t>
    </dgm:pt>
    <dgm:pt modelId="{AA664852-75D3-4581-8598-38A00ADBACF0}" type="pres">
      <dgm:prSet presAssocID="{7EA844B4-3B5A-4AAA-BB9B-C22AA03019A6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CDA324B-E7CB-4FB3-B6F9-954D150FE78A}" type="pres">
      <dgm:prSet presAssocID="{44601A57-A0DA-4F53-A78E-709EFBA9239D}" presName="centerShape" presStyleLbl="node0" presStyleIdx="0" presStyleCnt="1" custScaleY="131570"/>
      <dgm:spPr/>
      <dgm:t>
        <a:bodyPr/>
        <a:lstStyle/>
        <a:p>
          <a:endParaRPr lang="uk-UA"/>
        </a:p>
      </dgm:t>
    </dgm:pt>
    <dgm:pt modelId="{BD9AA21D-E2C2-4478-A712-ECBDFC37BFD5}" type="pres">
      <dgm:prSet presAssocID="{F857DB59-C732-4D5F-A998-7B9F52CF023B}" presName="Name9" presStyleLbl="parChTrans1D2" presStyleIdx="0" presStyleCnt="6"/>
      <dgm:spPr/>
      <dgm:t>
        <a:bodyPr/>
        <a:lstStyle/>
        <a:p>
          <a:endParaRPr lang="ru-RU"/>
        </a:p>
      </dgm:t>
    </dgm:pt>
    <dgm:pt modelId="{BD009FD6-6978-4DA5-908D-96E3153CBE4A}" type="pres">
      <dgm:prSet presAssocID="{F857DB59-C732-4D5F-A998-7B9F52CF023B}" presName="connTx" presStyleLbl="parChTrans1D2" presStyleIdx="0" presStyleCnt="6"/>
      <dgm:spPr/>
      <dgm:t>
        <a:bodyPr/>
        <a:lstStyle/>
        <a:p>
          <a:endParaRPr lang="ru-RU"/>
        </a:p>
      </dgm:t>
    </dgm:pt>
    <dgm:pt modelId="{7123B129-BC16-4B7A-95FC-53B4505CC376}" type="pres">
      <dgm:prSet presAssocID="{F7F8A46E-3EFD-4B48-B0B7-7C1D76AEF4CB}" presName="node" presStyleLbl="node1" presStyleIdx="0" presStyleCnt="6" custScaleX="263592" custScaleY="113946" custRadScaleRad="176250" custRadScaleInc="-18804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38C19231-2DC9-41A0-BA83-FCA15689AD36}" type="pres">
      <dgm:prSet presAssocID="{227DF3F0-CD83-439E-9D12-3BC155BE480C}" presName="Name9" presStyleLbl="parChTrans1D2" presStyleIdx="1" presStyleCnt="6"/>
      <dgm:spPr/>
      <dgm:t>
        <a:bodyPr/>
        <a:lstStyle/>
        <a:p>
          <a:endParaRPr lang="ru-RU"/>
        </a:p>
      </dgm:t>
    </dgm:pt>
    <dgm:pt modelId="{DF68BBE5-357C-4523-9590-A1F347F2E4D5}" type="pres">
      <dgm:prSet presAssocID="{227DF3F0-CD83-439E-9D12-3BC155BE480C}" presName="connTx" presStyleLbl="parChTrans1D2" presStyleIdx="1" presStyleCnt="6"/>
      <dgm:spPr/>
      <dgm:t>
        <a:bodyPr/>
        <a:lstStyle/>
        <a:p>
          <a:endParaRPr lang="ru-RU"/>
        </a:p>
      </dgm:t>
    </dgm:pt>
    <dgm:pt modelId="{3AA883B5-673D-4F6A-BC3F-C63551190151}" type="pres">
      <dgm:prSet presAssocID="{9BAA1B06-2D4C-4007-8721-18C2A91E620F}" presName="node" presStyleLbl="node1" presStyleIdx="1" presStyleCnt="6" custScaleX="188649" custRadScaleRad="193276" custRadScaleInc="-4645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25C66D19-468E-4F7E-BD8C-44D86A955893}" type="pres">
      <dgm:prSet presAssocID="{A5EA1829-B9C6-4011-839B-C512CF9F6B3A}" presName="Name9" presStyleLbl="parChTrans1D2" presStyleIdx="2" presStyleCnt="6"/>
      <dgm:spPr/>
      <dgm:t>
        <a:bodyPr/>
        <a:lstStyle/>
        <a:p>
          <a:endParaRPr lang="ru-RU"/>
        </a:p>
      </dgm:t>
    </dgm:pt>
    <dgm:pt modelId="{3B1C7C27-4E82-4B46-86B1-8E884F95A139}" type="pres">
      <dgm:prSet presAssocID="{A5EA1829-B9C6-4011-839B-C512CF9F6B3A}" presName="connTx" presStyleLbl="parChTrans1D2" presStyleIdx="2" presStyleCnt="6"/>
      <dgm:spPr/>
      <dgm:t>
        <a:bodyPr/>
        <a:lstStyle/>
        <a:p>
          <a:endParaRPr lang="ru-RU"/>
        </a:p>
      </dgm:t>
    </dgm:pt>
    <dgm:pt modelId="{BCEBD3DF-A3CE-43C1-A0E7-3EDF65410C62}" type="pres">
      <dgm:prSet presAssocID="{8958C0D8-5C50-4080-9DF5-76F4EA1CD7B0}" presName="node" presStyleLbl="node1" presStyleIdx="2" presStyleCnt="6" custScaleX="196814" custRadScaleRad="171248" custRadScaleInc="-3395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8F166F6A-F56D-48A0-A41C-F831BE56C720}" type="pres">
      <dgm:prSet presAssocID="{F2038774-A8BC-4143-9FE8-91BC9DD7EBDA}" presName="Name9" presStyleLbl="parChTrans1D2" presStyleIdx="3" presStyleCnt="6"/>
      <dgm:spPr/>
      <dgm:t>
        <a:bodyPr/>
        <a:lstStyle/>
        <a:p>
          <a:endParaRPr lang="ru-RU"/>
        </a:p>
      </dgm:t>
    </dgm:pt>
    <dgm:pt modelId="{67033968-A2AC-4577-B908-9A0B7473E27C}" type="pres">
      <dgm:prSet presAssocID="{F2038774-A8BC-4143-9FE8-91BC9DD7EBDA}" presName="connTx" presStyleLbl="parChTrans1D2" presStyleIdx="3" presStyleCnt="6"/>
      <dgm:spPr/>
      <dgm:t>
        <a:bodyPr/>
        <a:lstStyle/>
        <a:p>
          <a:endParaRPr lang="ru-RU"/>
        </a:p>
      </dgm:t>
    </dgm:pt>
    <dgm:pt modelId="{802BA96D-2826-404A-AD93-6107496A697F}" type="pres">
      <dgm:prSet presAssocID="{8F5F589E-3A66-4B14-88C7-1E3970303D0F}" presName="node" presStyleLbl="node1" presStyleIdx="3" presStyleCnt="6" custScaleX="216918" custScaleY="122915" custRadScaleRad="226859" custRadScaleInc="-317130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C5EC774-5D0D-4366-B9BC-47C49D4AADEC}" type="pres">
      <dgm:prSet presAssocID="{8A1AD516-9446-4F91-8BB5-0EF10FF5168B}" presName="Name9" presStyleLbl="parChTrans1D2" presStyleIdx="4" presStyleCnt="6"/>
      <dgm:spPr/>
      <dgm:t>
        <a:bodyPr/>
        <a:lstStyle/>
        <a:p>
          <a:endParaRPr lang="ru-RU"/>
        </a:p>
      </dgm:t>
    </dgm:pt>
    <dgm:pt modelId="{0D2A3EB9-E8E9-4121-943A-03EDCFC98142}" type="pres">
      <dgm:prSet presAssocID="{8A1AD516-9446-4F91-8BB5-0EF10FF5168B}" presName="connTx" presStyleLbl="parChTrans1D2" presStyleIdx="4" presStyleCnt="6"/>
      <dgm:spPr/>
      <dgm:t>
        <a:bodyPr/>
        <a:lstStyle/>
        <a:p>
          <a:endParaRPr lang="ru-RU"/>
        </a:p>
      </dgm:t>
    </dgm:pt>
    <dgm:pt modelId="{9020EC0A-E19E-44E1-B97E-9F64F7AE5584}" type="pres">
      <dgm:prSet presAssocID="{9FA443E9-7004-4709-B69D-F56A51578F3F}" presName="node" presStyleLbl="node1" presStyleIdx="4" presStyleCnt="6" custScaleX="229624" custRadScaleRad="185216" custRadScaleInc="23888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E513FAD-1A45-4BFC-9667-3E21776D7189}" type="pres">
      <dgm:prSet presAssocID="{0033449E-C7E2-4472-A14B-FFCE2585C6DC}" presName="Name9" presStyleLbl="parChTrans1D2" presStyleIdx="5" presStyleCnt="6"/>
      <dgm:spPr/>
      <dgm:t>
        <a:bodyPr/>
        <a:lstStyle/>
        <a:p>
          <a:endParaRPr lang="ru-RU"/>
        </a:p>
      </dgm:t>
    </dgm:pt>
    <dgm:pt modelId="{AE909A3F-508C-436B-9B59-0869269BC77B}" type="pres">
      <dgm:prSet presAssocID="{0033449E-C7E2-4472-A14B-FFCE2585C6DC}" presName="connTx" presStyleLbl="parChTrans1D2" presStyleIdx="5" presStyleCnt="6"/>
      <dgm:spPr/>
      <dgm:t>
        <a:bodyPr/>
        <a:lstStyle/>
        <a:p>
          <a:endParaRPr lang="ru-RU"/>
        </a:p>
      </dgm:t>
    </dgm:pt>
    <dgm:pt modelId="{AC1C33B6-F496-4FC4-8969-25188BA45EAB}" type="pres">
      <dgm:prSet presAssocID="{7857C5AE-91E9-4E21-94DE-72F4392059F4}" presName="node" presStyleLbl="node1" presStyleIdx="5" presStyleCnt="6" custScaleX="229032" custScaleY="112456" custRadScaleRad="227178" custRadScaleInc="-93850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DA496F2C-3CDE-477E-942D-94FB4F345D0C}" type="presOf" srcId="{0033449E-C7E2-4472-A14B-FFCE2585C6DC}" destId="{7E513FAD-1A45-4BFC-9667-3E21776D7189}" srcOrd="0" destOrd="0" presId="urn:microsoft.com/office/officeart/2005/8/layout/radial1"/>
    <dgm:cxn modelId="{27D1C6AE-249B-40C6-9B9F-722C8F1A7558}" type="presOf" srcId="{F2038774-A8BC-4143-9FE8-91BC9DD7EBDA}" destId="{67033968-A2AC-4577-B908-9A0B7473E27C}" srcOrd="1" destOrd="0" presId="urn:microsoft.com/office/officeart/2005/8/layout/radial1"/>
    <dgm:cxn modelId="{8BFA4A0E-FCAB-4959-AF5F-513CE1A233CB}" type="presOf" srcId="{9FA443E9-7004-4709-B69D-F56A51578F3F}" destId="{9020EC0A-E19E-44E1-B97E-9F64F7AE5584}" srcOrd="0" destOrd="0" presId="urn:microsoft.com/office/officeart/2005/8/layout/radial1"/>
    <dgm:cxn modelId="{6C49053C-9B3A-4A4B-B37F-2E404D3537F8}" type="presOf" srcId="{9BAA1B06-2D4C-4007-8721-18C2A91E620F}" destId="{3AA883B5-673D-4F6A-BC3F-C63551190151}" srcOrd="0" destOrd="0" presId="urn:microsoft.com/office/officeart/2005/8/layout/radial1"/>
    <dgm:cxn modelId="{EF423095-28DD-4689-AC2E-5CF5157C98AE}" type="presOf" srcId="{A5EA1829-B9C6-4011-839B-C512CF9F6B3A}" destId="{25C66D19-468E-4F7E-BD8C-44D86A955893}" srcOrd="0" destOrd="0" presId="urn:microsoft.com/office/officeart/2005/8/layout/radial1"/>
    <dgm:cxn modelId="{28176C99-1772-48E3-9537-36A20C8F944D}" srcId="{44601A57-A0DA-4F53-A78E-709EFBA9239D}" destId="{9FA443E9-7004-4709-B69D-F56A51578F3F}" srcOrd="4" destOrd="0" parTransId="{8A1AD516-9446-4F91-8BB5-0EF10FF5168B}" sibTransId="{128E0DA8-1D0F-442F-AB26-C25F72AC78B6}"/>
    <dgm:cxn modelId="{8AAA062F-726C-4F1C-8399-CA8D345DAC62}" srcId="{44601A57-A0DA-4F53-A78E-709EFBA9239D}" destId="{8958C0D8-5C50-4080-9DF5-76F4EA1CD7B0}" srcOrd="2" destOrd="0" parTransId="{A5EA1829-B9C6-4011-839B-C512CF9F6B3A}" sibTransId="{8073751B-4473-47A4-97CA-A3E174E3C06A}"/>
    <dgm:cxn modelId="{CC5D4278-C084-4787-AB5F-EE1D1312281F}" srcId="{44601A57-A0DA-4F53-A78E-709EFBA9239D}" destId="{9BAA1B06-2D4C-4007-8721-18C2A91E620F}" srcOrd="1" destOrd="0" parTransId="{227DF3F0-CD83-439E-9D12-3BC155BE480C}" sibTransId="{B7B49466-765F-4B89-A387-0E890FF1D8CE}"/>
    <dgm:cxn modelId="{E579073B-B791-44CE-9294-10BA1FFBABE9}" type="presOf" srcId="{8A1AD516-9446-4F91-8BB5-0EF10FF5168B}" destId="{0D2A3EB9-E8E9-4121-943A-03EDCFC98142}" srcOrd="1" destOrd="0" presId="urn:microsoft.com/office/officeart/2005/8/layout/radial1"/>
    <dgm:cxn modelId="{EBCBD5C7-13DD-45BC-A5E0-42EDC6C629D5}" type="presOf" srcId="{F857DB59-C732-4D5F-A998-7B9F52CF023B}" destId="{BD9AA21D-E2C2-4478-A712-ECBDFC37BFD5}" srcOrd="0" destOrd="0" presId="urn:microsoft.com/office/officeart/2005/8/layout/radial1"/>
    <dgm:cxn modelId="{849F1ADB-C548-4496-BEC4-B5F7222E09E2}" type="presOf" srcId="{7EA844B4-3B5A-4AAA-BB9B-C22AA03019A6}" destId="{AA664852-75D3-4581-8598-38A00ADBACF0}" srcOrd="0" destOrd="0" presId="urn:microsoft.com/office/officeart/2005/8/layout/radial1"/>
    <dgm:cxn modelId="{C1C7AE8C-2220-42B5-877D-488B56DA176A}" type="presOf" srcId="{7857C5AE-91E9-4E21-94DE-72F4392059F4}" destId="{AC1C33B6-F496-4FC4-8969-25188BA45EAB}" srcOrd="0" destOrd="0" presId="urn:microsoft.com/office/officeart/2005/8/layout/radial1"/>
    <dgm:cxn modelId="{4AF60C18-20F3-4682-884B-0BD1E78609D9}" type="presOf" srcId="{8A1AD516-9446-4F91-8BB5-0EF10FF5168B}" destId="{1C5EC774-5D0D-4366-B9BC-47C49D4AADEC}" srcOrd="0" destOrd="0" presId="urn:microsoft.com/office/officeart/2005/8/layout/radial1"/>
    <dgm:cxn modelId="{80378D56-6B7D-4A7B-889B-CADF133BF50B}" type="presOf" srcId="{227DF3F0-CD83-439E-9D12-3BC155BE480C}" destId="{DF68BBE5-357C-4523-9590-A1F347F2E4D5}" srcOrd="1" destOrd="0" presId="urn:microsoft.com/office/officeart/2005/8/layout/radial1"/>
    <dgm:cxn modelId="{00C0D5AC-3440-43FB-9FAE-AB5CAA6D9F4B}" srcId="{44601A57-A0DA-4F53-A78E-709EFBA9239D}" destId="{7857C5AE-91E9-4E21-94DE-72F4392059F4}" srcOrd="5" destOrd="0" parTransId="{0033449E-C7E2-4472-A14B-FFCE2585C6DC}" sibTransId="{ADA4AEEB-1564-4193-B61A-6B838FF934CA}"/>
    <dgm:cxn modelId="{6B72DAA5-E241-4E9B-9752-5E1BA08D2930}" srcId="{44601A57-A0DA-4F53-A78E-709EFBA9239D}" destId="{8F5F589E-3A66-4B14-88C7-1E3970303D0F}" srcOrd="3" destOrd="0" parTransId="{F2038774-A8BC-4143-9FE8-91BC9DD7EBDA}" sibTransId="{DBBD5867-F841-4DFF-AD15-09292E37FF11}"/>
    <dgm:cxn modelId="{4400405B-A028-4FD1-B7E9-7A1EA7F99206}" type="presOf" srcId="{8F5F589E-3A66-4B14-88C7-1E3970303D0F}" destId="{802BA96D-2826-404A-AD93-6107496A697F}" srcOrd="0" destOrd="0" presId="urn:microsoft.com/office/officeart/2005/8/layout/radial1"/>
    <dgm:cxn modelId="{392E4AA1-3BBA-4B39-8DDF-96FC804B2F51}" type="presOf" srcId="{0033449E-C7E2-4472-A14B-FFCE2585C6DC}" destId="{AE909A3F-508C-436B-9B59-0869269BC77B}" srcOrd="1" destOrd="0" presId="urn:microsoft.com/office/officeart/2005/8/layout/radial1"/>
    <dgm:cxn modelId="{DA1D8A7B-2D5C-4A6A-A9F3-4139AF5C5B4C}" type="presOf" srcId="{227DF3F0-CD83-439E-9D12-3BC155BE480C}" destId="{38C19231-2DC9-41A0-BA83-FCA15689AD36}" srcOrd="0" destOrd="0" presId="urn:microsoft.com/office/officeart/2005/8/layout/radial1"/>
    <dgm:cxn modelId="{398300FF-7797-450B-AD38-932BEC983300}" srcId="{7EA844B4-3B5A-4AAA-BB9B-C22AA03019A6}" destId="{44601A57-A0DA-4F53-A78E-709EFBA9239D}" srcOrd="0" destOrd="0" parTransId="{2026D549-6AFB-4424-A2AC-84238799F6FA}" sibTransId="{EBFCE9A1-716B-45EA-9E06-54EAA844F7C1}"/>
    <dgm:cxn modelId="{B7007A61-6FC1-4D11-8B5F-43C44FF34794}" srcId="{44601A57-A0DA-4F53-A78E-709EFBA9239D}" destId="{F7F8A46E-3EFD-4B48-B0B7-7C1D76AEF4CB}" srcOrd="0" destOrd="0" parTransId="{F857DB59-C732-4D5F-A998-7B9F52CF023B}" sibTransId="{6DAD2588-01DE-45BF-A831-D9D0C9945810}"/>
    <dgm:cxn modelId="{88F3D82C-F00D-4CCC-BC9A-6EBAD3601DDA}" type="presOf" srcId="{F2038774-A8BC-4143-9FE8-91BC9DD7EBDA}" destId="{8F166F6A-F56D-48A0-A41C-F831BE56C720}" srcOrd="0" destOrd="0" presId="urn:microsoft.com/office/officeart/2005/8/layout/radial1"/>
    <dgm:cxn modelId="{4E83A383-6E95-458F-B752-1EC2203F6C45}" type="presOf" srcId="{44601A57-A0DA-4F53-A78E-709EFBA9239D}" destId="{FCDA324B-E7CB-4FB3-B6F9-954D150FE78A}" srcOrd="0" destOrd="0" presId="urn:microsoft.com/office/officeart/2005/8/layout/radial1"/>
    <dgm:cxn modelId="{40E20B61-5B69-461C-ABF8-88D5403613AE}" type="presOf" srcId="{A5EA1829-B9C6-4011-839B-C512CF9F6B3A}" destId="{3B1C7C27-4E82-4B46-86B1-8E884F95A139}" srcOrd="1" destOrd="0" presId="urn:microsoft.com/office/officeart/2005/8/layout/radial1"/>
    <dgm:cxn modelId="{C5D1F95D-40D2-49E7-8249-947CA41046A2}" type="presOf" srcId="{F7F8A46E-3EFD-4B48-B0B7-7C1D76AEF4CB}" destId="{7123B129-BC16-4B7A-95FC-53B4505CC376}" srcOrd="0" destOrd="0" presId="urn:microsoft.com/office/officeart/2005/8/layout/radial1"/>
    <dgm:cxn modelId="{AE67A82F-9C46-45EF-8218-0C42E6E211BD}" type="presOf" srcId="{8958C0D8-5C50-4080-9DF5-76F4EA1CD7B0}" destId="{BCEBD3DF-A3CE-43C1-A0E7-3EDF65410C62}" srcOrd="0" destOrd="0" presId="urn:microsoft.com/office/officeart/2005/8/layout/radial1"/>
    <dgm:cxn modelId="{469C8BD2-2985-4520-B986-D74556FDFFE6}" type="presOf" srcId="{F857DB59-C732-4D5F-A998-7B9F52CF023B}" destId="{BD009FD6-6978-4DA5-908D-96E3153CBE4A}" srcOrd="1" destOrd="0" presId="urn:microsoft.com/office/officeart/2005/8/layout/radial1"/>
    <dgm:cxn modelId="{6615B660-B196-4135-A12B-369FEAA6E3EB}" type="presParOf" srcId="{AA664852-75D3-4581-8598-38A00ADBACF0}" destId="{FCDA324B-E7CB-4FB3-B6F9-954D150FE78A}" srcOrd="0" destOrd="0" presId="urn:microsoft.com/office/officeart/2005/8/layout/radial1"/>
    <dgm:cxn modelId="{CA0CBA43-1A81-4B36-9588-D08CB3BDCCBC}" type="presParOf" srcId="{AA664852-75D3-4581-8598-38A00ADBACF0}" destId="{BD9AA21D-E2C2-4478-A712-ECBDFC37BFD5}" srcOrd="1" destOrd="0" presId="urn:microsoft.com/office/officeart/2005/8/layout/radial1"/>
    <dgm:cxn modelId="{7C60C2B3-886E-4A01-8C7D-7CDDD486002F}" type="presParOf" srcId="{BD9AA21D-E2C2-4478-A712-ECBDFC37BFD5}" destId="{BD009FD6-6978-4DA5-908D-96E3153CBE4A}" srcOrd="0" destOrd="0" presId="urn:microsoft.com/office/officeart/2005/8/layout/radial1"/>
    <dgm:cxn modelId="{EEF27D09-C10C-4BB3-AC33-75165FC5E753}" type="presParOf" srcId="{AA664852-75D3-4581-8598-38A00ADBACF0}" destId="{7123B129-BC16-4B7A-95FC-53B4505CC376}" srcOrd="2" destOrd="0" presId="urn:microsoft.com/office/officeart/2005/8/layout/radial1"/>
    <dgm:cxn modelId="{448DE6C3-6E91-4215-838A-3E54E4EDCC90}" type="presParOf" srcId="{AA664852-75D3-4581-8598-38A00ADBACF0}" destId="{38C19231-2DC9-41A0-BA83-FCA15689AD36}" srcOrd="3" destOrd="0" presId="urn:microsoft.com/office/officeart/2005/8/layout/radial1"/>
    <dgm:cxn modelId="{CF704262-CC7D-4D50-83E0-30486E1C75AF}" type="presParOf" srcId="{38C19231-2DC9-41A0-BA83-FCA15689AD36}" destId="{DF68BBE5-357C-4523-9590-A1F347F2E4D5}" srcOrd="0" destOrd="0" presId="urn:microsoft.com/office/officeart/2005/8/layout/radial1"/>
    <dgm:cxn modelId="{D814B710-5436-4043-88B3-71E50A5C6740}" type="presParOf" srcId="{AA664852-75D3-4581-8598-38A00ADBACF0}" destId="{3AA883B5-673D-4F6A-BC3F-C63551190151}" srcOrd="4" destOrd="0" presId="urn:microsoft.com/office/officeart/2005/8/layout/radial1"/>
    <dgm:cxn modelId="{BE31AFD3-98C7-47AD-B5F5-87A54F18BAAF}" type="presParOf" srcId="{AA664852-75D3-4581-8598-38A00ADBACF0}" destId="{25C66D19-468E-4F7E-BD8C-44D86A955893}" srcOrd="5" destOrd="0" presId="urn:microsoft.com/office/officeart/2005/8/layout/radial1"/>
    <dgm:cxn modelId="{7691392B-0665-4DA0-B718-14336E05FA5D}" type="presParOf" srcId="{25C66D19-468E-4F7E-BD8C-44D86A955893}" destId="{3B1C7C27-4E82-4B46-86B1-8E884F95A139}" srcOrd="0" destOrd="0" presId="urn:microsoft.com/office/officeart/2005/8/layout/radial1"/>
    <dgm:cxn modelId="{4DADC787-70BA-4FBD-A8AD-69DC4192F889}" type="presParOf" srcId="{AA664852-75D3-4581-8598-38A00ADBACF0}" destId="{BCEBD3DF-A3CE-43C1-A0E7-3EDF65410C62}" srcOrd="6" destOrd="0" presId="urn:microsoft.com/office/officeart/2005/8/layout/radial1"/>
    <dgm:cxn modelId="{4A734618-7165-443D-998A-2C23CF7F27D5}" type="presParOf" srcId="{AA664852-75D3-4581-8598-38A00ADBACF0}" destId="{8F166F6A-F56D-48A0-A41C-F831BE56C720}" srcOrd="7" destOrd="0" presId="urn:microsoft.com/office/officeart/2005/8/layout/radial1"/>
    <dgm:cxn modelId="{104CC26C-CA3D-45D3-B093-81F960E65871}" type="presParOf" srcId="{8F166F6A-F56D-48A0-A41C-F831BE56C720}" destId="{67033968-A2AC-4577-B908-9A0B7473E27C}" srcOrd="0" destOrd="0" presId="urn:microsoft.com/office/officeart/2005/8/layout/radial1"/>
    <dgm:cxn modelId="{023DB001-6238-4177-A3FF-DA81520008B1}" type="presParOf" srcId="{AA664852-75D3-4581-8598-38A00ADBACF0}" destId="{802BA96D-2826-404A-AD93-6107496A697F}" srcOrd="8" destOrd="0" presId="urn:microsoft.com/office/officeart/2005/8/layout/radial1"/>
    <dgm:cxn modelId="{CE2E88F0-EC42-4D7B-8D1A-67A59C62DAE0}" type="presParOf" srcId="{AA664852-75D3-4581-8598-38A00ADBACF0}" destId="{1C5EC774-5D0D-4366-B9BC-47C49D4AADEC}" srcOrd="9" destOrd="0" presId="urn:microsoft.com/office/officeart/2005/8/layout/radial1"/>
    <dgm:cxn modelId="{17BC6AAB-536B-4DA6-9CA4-EB113B2CE4E0}" type="presParOf" srcId="{1C5EC774-5D0D-4366-B9BC-47C49D4AADEC}" destId="{0D2A3EB9-E8E9-4121-943A-03EDCFC98142}" srcOrd="0" destOrd="0" presId="urn:microsoft.com/office/officeart/2005/8/layout/radial1"/>
    <dgm:cxn modelId="{9333A50E-E56B-4B5B-AB9B-6814728499B9}" type="presParOf" srcId="{AA664852-75D3-4581-8598-38A00ADBACF0}" destId="{9020EC0A-E19E-44E1-B97E-9F64F7AE5584}" srcOrd="10" destOrd="0" presId="urn:microsoft.com/office/officeart/2005/8/layout/radial1"/>
    <dgm:cxn modelId="{AA6712DA-BBCA-4BCB-8BD3-294C7D96AFDC}" type="presParOf" srcId="{AA664852-75D3-4581-8598-38A00ADBACF0}" destId="{7E513FAD-1A45-4BFC-9667-3E21776D7189}" srcOrd="11" destOrd="0" presId="urn:microsoft.com/office/officeart/2005/8/layout/radial1"/>
    <dgm:cxn modelId="{BC1576C6-D751-4D15-AAEF-F9F07D5258B5}" type="presParOf" srcId="{7E513FAD-1A45-4BFC-9667-3E21776D7189}" destId="{AE909A3F-508C-436B-9B59-0869269BC77B}" srcOrd="0" destOrd="0" presId="urn:microsoft.com/office/officeart/2005/8/layout/radial1"/>
    <dgm:cxn modelId="{FD09E86A-0E8D-447A-8D80-5C94136AD828}" type="presParOf" srcId="{AA664852-75D3-4581-8598-38A00ADBACF0}" destId="{AC1C33B6-F496-4FC4-8969-25188BA45EAB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A844B4-3B5A-4AAA-BB9B-C22AA03019A6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4601A57-A0DA-4F53-A78E-709EFBA9239D}">
      <dgm:prSet phldrT="[Текст]"/>
      <dgm:spPr/>
      <dgm:t>
        <a:bodyPr/>
        <a:lstStyle/>
        <a:p>
          <a:r>
            <a:rPr lang="en-US" dirty="0" smtClean="0"/>
            <a:t>I</a:t>
          </a:r>
          <a:endParaRPr lang="uk-UA" dirty="0"/>
        </a:p>
      </dgm:t>
    </dgm:pt>
    <dgm:pt modelId="{2026D549-6AFB-4424-A2AC-84238799F6FA}" type="parTrans" cxnId="{398300FF-7797-450B-AD38-932BEC983300}">
      <dgm:prSet/>
      <dgm:spPr/>
      <dgm:t>
        <a:bodyPr/>
        <a:lstStyle/>
        <a:p>
          <a:endParaRPr lang="uk-UA"/>
        </a:p>
      </dgm:t>
    </dgm:pt>
    <dgm:pt modelId="{EBFCE9A1-716B-45EA-9E06-54EAA844F7C1}" type="sibTrans" cxnId="{398300FF-7797-450B-AD38-932BEC983300}">
      <dgm:prSet/>
      <dgm:spPr/>
      <dgm:t>
        <a:bodyPr/>
        <a:lstStyle/>
        <a:p>
          <a:endParaRPr lang="uk-UA"/>
        </a:p>
      </dgm:t>
    </dgm:pt>
    <dgm:pt modelId="{F7F8A46E-3EFD-4B48-B0B7-7C1D76AEF4CB}">
      <dgm:prSet phldrT="[Текст]" custT="1"/>
      <dgm:spPr/>
      <dgm:t>
        <a:bodyPr/>
        <a:lstStyle/>
        <a:p>
          <a:pPr>
            <a:spcAft>
              <a:spcPts val="0"/>
            </a:spcAft>
          </a:pPr>
          <a:r>
            <a:rPr lang="en-US" sz="2000" baseline="0" dirty="0" smtClean="0"/>
            <a:t> Ca(IO</a:t>
          </a:r>
          <a:r>
            <a:rPr lang="en-US" sz="2000" baseline="-25000" dirty="0" smtClean="0"/>
            <a:t>3</a:t>
          </a:r>
          <a:r>
            <a:rPr lang="en-US" sz="2000" baseline="0" dirty="0" smtClean="0"/>
            <a:t>)</a:t>
          </a:r>
          <a:r>
            <a:rPr lang="en-US" sz="2000" baseline="-25000" dirty="0" smtClean="0"/>
            <a:t>2</a:t>
          </a:r>
        </a:p>
        <a:p>
          <a:pPr>
            <a:spcAft>
              <a:spcPts val="0"/>
            </a:spcAft>
          </a:pPr>
          <a:r>
            <a:rPr lang="uk-UA" sz="2000" baseline="0" dirty="0" smtClean="0"/>
            <a:t>у складі чилійської селітри</a:t>
          </a:r>
          <a:endParaRPr lang="uk-UA" sz="2000" baseline="0" dirty="0"/>
        </a:p>
      </dgm:t>
    </dgm:pt>
    <dgm:pt modelId="{F857DB59-C732-4D5F-A998-7B9F52CF023B}" type="parTrans" cxnId="{B7007A61-6FC1-4D11-8B5F-43C44FF34794}">
      <dgm:prSet/>
      <dgm:spPr/>
      <dgm:t>
        <a:bodyPr/>
        <a:lstStyle/>
        <a:p>
          <a:endParaRPr lang="uk-UA"/>
        </a:p>
      </dgm:t>
    </dgm:pt>
    <dgm:pt modelId="{6DAD2588-01DE-45BF-A831-D9D0C9945810}" type="sibTrans" cxnId="{B7007A61-6FC1-4D11-8B5F-43C44FF34794}">
      <dgm:prSet/>
      <dgm:spPr/>
      <dgm:t>
        <a:bodyPr/>
        <a:lstStyle/>
        <a:p>
          <a:endParaRPr lang="uk-UA"/>
        </a:p>
      </dgm:t>
    </dgm:pt>
    <dgm:pt modelId="{8F5F589E-3A66-4B14-88C7-1E3970303D0F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uk-UA" sz="2000" baseline="0" dirty="0" smtClean="0"/>
            <a:t>У щитовидній залозі</a:t>
          </a:r>
          <a:endParaRPr lang="uk-UA" sz="2000" baseline="0" dirty="0"/>
        </a:p>
      </dgm:t>
    </dgm:pt>
    <dgm:pt modelId="{F2038774-A8BC-4143-9FE8-91BC9DD7EBDA}" type="parTrans" cxnId="{6B72DAA5-E241-4E9B-9752-5E1BA08D2930}">
      <dgm:prSet/>
      <dgm:spPr/>
      <dgm:t>
        <a:bodyPr/>
        <a:lstStyle/>
        <a:p>
          <a:endParaRPr lang="uk-UA"/>
        </a:p>
      </dgm:t>
    </dgm:pt>
    <dgm:pt modelId="{DBBD5867-F841-4DFF-AD15-09292E37FF11}" type="sibTrans" cxnId="{6B72DAA5-E241-4E9B-9752-5E1BA08D2930}">
      <dgm:prSet/>
      <dgm:spPr/>
      <dgm:t>
        <a:bodyPr/>
        <a:lstStyle/>
        <a:p>
          <a:endParaRPr lang="uk-UA"/>
        </a:p>
      </dgm:t>
    </dgm:pt>
    <dgm:pt modelId="{7857C5AE-91E9-4E21-94DE-72F4392059F4}">
      <dgm:prSet phldrT="[Текст]" custT="1"/>
      <dgm:spPr/>
      <dgm:t>
        <a:bodyPr/>
        <a:lstStyle/>
        <a:p>
          <a:r>
            <a:rPr lang="uk-UA" sz="2000" i="0" dirty="0" smtClean="0"/>
            <a:t>У морській воді</a:t>
          </a:r>
          <a:r>
            <a:rPr lang="en-US" sz="2000" i="0" dirty="0" smtClean="0"/>
            <a:t> w(I</a:t>
          </a:r>
          <a:r>
            <a:rPr lang="en-US" sz="2000" i="0" baseline="30000" dirty="0" smtClean="0"/>
            <a:t>-</a:t>
          </a:r>
          <a:r>
            <a:rPr lang="en-US" sz="2000" i="0" dirty="0" smtClean="0"/>
            <a:t>)</a:t>
          </a:r>
          <a:r>
            <a:rPr lang="en-US" sz="2000" i="0" baseline="30000" dirty="0" smtClean="0"/>
            <a:t> </a:t>
          </a:r>
          <a:r>
            <a:rPr lang="en-US" sz="2000" i="0" dirty="0" smtClean="0"/>
            <a:t>=</a:t>
          </a:r>
          <a:r>
            <a:rPr lang="uk-UA" sz="2000" i="0" dirty="0" smtClean="0"/>
            <a:t>0,06% </a:t>
          </a:r>
          <a:endParaRPr lang="uk-UA" sz="2000" i="0" dirty="0"/>
        </a:p>
      </dgm:t>
    </dgm:pt>
    <dgm:pt modelId="{0033449E-C7E2-4472-A14B-FFCE2585C6DC}" type="parTrans" cxnId="{00C0D5AC-3440-43FB-9FAE-AB5CAA6D9F4B}">
      <dgm:prSet/>
      <dgm:spPr/>
      <dgm:t>
        <a:bodyPr/>
        <a:lstStyle/>
        <a:p>
          <a:endParaRPr lang="uk-UA"/>
        </a:p>
      </dgm:t>
    </dgm:pt>
    <dgm:pt modelId="{ADA4AEEB-1564-4193-B61A-6B838FF934CA}" type="sibTrans" cxnId="{00C0D5AC-3440-43FB-9FAE-AB5CAA6D9F4B}">
      <dgm:prSet/>
      <dgm:spPr/>
      <dgm:t>
        <a:bodyPr/>
        <a:lstStyle/>
        <a:p>
          <a:endParaRPr lang="uk-UA"/>
        </a:p>
      </dgm:t>
    </dgm:pt>
    <dgm:pt modelId="{9FA443E9-7004-4709-B69D-F56A51578F3F}">
      <dgm:prSet phldrT="[Текст]" custT="1"/>
      <dgm:spPr/>
      <dgm:t>
        <a:bodyPr/>
        <a:lstStyle/>
        <a:p>
          <a:r>
            <a:rPr lang="uk-UA" sz="2000" dirty="0" smtClean="0"/>
            <a:t>У водах озер</a:t>
          </a:r>
        </a:p>
        <a:p>
          <a:r>
            <a:rPr lang="en-US" sz="2400" i="0" dirty="0" smtClean="0"/>
            <a:t>I</a:t>
          </a:r>
          <a:r>
            <a:rPr lang="en-US" sz="2400" i="0" baseline="30000" dirty="0" smtClean="0"/>
            <a:t>-</a:t>
          </a:r>
          <a:r>
            <a:rPr lang="uk-UA" sz="2400" dirty="0" smtClean="0"/>
            <a:t> </a:t>
          </a:r>
          <a:endParaRPr lang="uk-UA" sz="2400" dirty="0"/>
        </a:p>
      </dgm:t>
    </dgm:pt>
    <dgm:pt modelId="{8A1AD516-9446-4F91-8BB5-0EF10FF5168B}" type="parTrans" cxnId="{28176C99-1772-48E3-9537-36A20C8F944D}">
      <dgm:prSet/>
      <dgm:spPr/>
      <dgm:t>
        <a:bodyPr/>
        <a:lstStyle/>
        <a:p>
          <a:endParaRPr lang="uk-UA"/>
        </a:p>
      </dgm:t>
    </dgm:pt>
    <dgm:pt modelId="{128E0DA8-1D0F-442F-AB26-C25F72AC78B6}" type="sibTrans" cxnId="{28176C99-1772-48E3-9537-36A20C8F944D}">
      <dgm:prSet/>
      <dgm:spPr/>
      <dgm:t>
        <a:bodyPr/>
        <a:lstStyle/>
        <a:p>
          <a:endParaRPr lang="uk-UA"/>
        </a:p>
      </dgm:t>
    </dgm:pt>
    <dgm:pt modelId="{8958C0D8-5C50-4080-9DF5-76F4EA1CD7B0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uk-UA" sz="2000" dirty="0" smtClean="0"/>
            <a:t>В організмі людини </a:t>
          </a:r>
        </a:p>
        <a:p>
          <a:pPr>
            <a:spcAft>
              <a:spcPts val="0"/>
            </a:spcAft>
          </a:pPr>
          <a:r>
            <a:rPr lang="en-US" sz="2000" i="0" dirty="0" smtClean="0"/>
            <a:t>w(I)</a:t>
          </a:r>
          <a:r>
            <a:rPr lang="uk-UA" sz="2000" i="0" dirty="0" smtClean="0"/>
            <a:t>=20-50 мг</a:t>
          </a:r>
          <a:endParaRPr lang="uk-UA" sz="2000" dirty="0" smtClean="0"/>
        </a:p>
      </dgm:t>
    </dgm:pt>
    <dgm:pt modelId="{8073751B-4473-47A4-97CA-A3E174E3C06A}" type="sibTrans" cxnId="{8AAA062F-726C-4F1C-8399-CA8D345DAC62}">
      <dgm:prSet/>
      <dgm:spPr/>
      <dgm:t>
        <a:bodyPr/>
        <a:lstStyle/>
        <a:p>
          <a:endParaRPr lang="uk-UA"/>
        </a:p>
      </dgm:t>
    </dgm:pt>
    <dgm:pt modelId="{A5EA1829-B9C6-4011-839B-C512CF9F6B3A}" type="parTrans" cxnId="{8AAA062F-726C-4F1C-8399-CA8D345DAC62}">
      <dgm:prSet/>
      <dgm:spPr/>
      <dgm:t>
        <a:bodyPr/>
        <a:lstStyle/>
        <a:p>
          <a:endParaRPr lang="uk-UA"/>
        </a:p>
      </dgm:t>
    </dgm:pt>
    <dgm:pt modelId="{9BAA1B06-2D4C-4007-8721-18C2A91E620F}">
      <dgm:prSet phldrT="[Текст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uk-UA" sz="2000" dirty="0" smtClean="0"/>
            <a:t>У ламінаріях </a:t>
          </a:r>
          <a:r>
            <a:rPr lang="en-US" sz="2000" i="0" dirty="0" smtClean="0"/>
            <a:t>w(I</a:t>
          </a:r>
          <a:r>
            <a:rPr lang="en-US" sz="2000" i="0" baseline="30000" dirty="0" smtClean="0"/>
            <a:t>-</a:t>
          </a:r>
          <a:r>
            <a:rPr lang="en-US" sz="2000" i="0" dirty="0" smtClean="0"/>
            <a:t>)</a:t>
          </a:r>
          <a:r>
            <a:rPr lang="en-US" sz="2000" i="0" baseline="30000" dirty="0" smtClean="0"/>
            <a:t> </a:t>
          </a:r>
          <a:r>
            <a:rPr lang="en-US" sz="2000" i="0" dirty="0" smtClean="0"/>
            <a:t>=</a:t>
          </a:r>
          <a:r>
            <a:rPr lang="uk-UA" sz="2000" i="0" dirty="0" smtClean="0"/>
            <a:t>0,5% </a:t>
          </a:r>
          <a:endParaRPr lang="uk-UA" sz="2000" dirty="0"/>
        </a:p>
      </dgm:t>
    </dgm:pt>
    <dgm:pt modelId="{B7B49466-765F-4B89-A387-0E890FF1D8CE}" type="sibTrans" cxnId="{CC5D4278-C084-4787-AB5F-EE1D1312281F}">
      <dgm:prSet/>
      <dgm:spPr/>
      <dgm:t>
        <a:bodyPr/>
        <a:lstStyle/>
        <a:p>
          <a:endParaRPr lang="uk-UA"/>
        </a:p>
      </dgm:t>
    </dgm:pt>
    <dgm:pt modelId="{227DF3F0-CD83-439E-9D12-3BC155BE480C}" type="parTrans" cxnId="{CC5D4278-C084-4787-AB5F-EE1D1312281F}">
      <dgm:prSet/>
      <dgm:spPr/>
      <dgm:t>
        <a:bodyPr/>
        <a:lstStyle/>
        <a:p>
          <a:endParaRPr lang="uk-UA"/>
        </a:p>
      </dgm:t>
    </dgm:pt>
    <dgm:pt modelId="{AA664852-75D3-4581-8598-38A00ADBACF0}" type="pres">
      <dgm:prSet presAssocID="{7EA844B4-3B5A-4AAA-BB9B-C22AA03019A6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CDA324B-E7CB-4FB3-B6F9-954D150FE78A}" type="pres">
      <dgm:prSet presAssocID="{44601A57-A0DA-4F53-A78E-709EFBA9239D}" presName="centerShape" presStyleLbl="node0" presStyleIdx="0" presStyleCnt="1" custScaleY="131570"/>
      <dgm:spPr/>
      <dgm:t>
        <a:bodyPr/>
        <a:lstStyle/>
        <a:p>
          <a:endParaRPr lang="uk-UA"/>
        </a:p>
      </dgm:t>
    </dgm:pt>
    <dgm:pt modelId="{BD9AA21D-E2C2-4478-A712-ECBDFC37BFD5}" type="pres">
      <dgm:prSet presAssocID="{F857DB59-C732-4D5F-A998-7B9F52CF023B}" presName="Name9" presStyleLbl="parChTrans1D2" presStyleIdx="0" presStyleCnt="6"/>
      <dgm:spPr/>
      <dgm:t>
        <a:bodyPr/>
        <a:lstStyle/>
        <a:p>
          <a:endParaRPr lang="ru-RU"/>
        </a:p>
      </dgm:t>
    </dgm:pt>
    <dgm:pt modelId="{BD009FD6-6978-4DA5-908D-96E3153CBE4A}" type="pres">
      <dgm:prSet presAssocID="{F857DB59-C732-4D5F-A998-7B9F52CF023B}" presName="connTx" presStyleLbl="parChTrans1D2" presStyleIdx="0" presStyleCnt="6"/>
      <dgm:spPr/>
      <dgm:t>
        <a:bodyPr/>
        <a:lstStyle/>
        <a:p>
          <a:endParaRPr lang="ru-RU"/>
        </a:p>
      </dgm:t>
    </dgm:pt>
    <dgm:pt modelId="{7123B129-BC16-4B7A-95FC-53B4505CC376}" type="pres">
      <dgm:prSet presAssocID="{F7F8A46E-3EFD-4B48-B0B7-7C1D76AEF4CB}" presName="node" presStyleLbl="node1" presStyleIdx="0" presStyleCnt="6" custScaleX="234806" custScaleY="110905" custRadScaleRad="157955" custRadScaleInc="-17051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38C19231-2DC9-41A0-BA83-FCA15689AD36}" type="pres">
      <dgm:prSet presAssocID="{227DF3F0-CD83-439E-9D12-3BC155BE480C}" presName="Name9" presStyleLbl="parChTrans1D2" presStyleIdx="1" presStyleCnt="6"/>
      <dgm:spPr/>
      <dgm:t>
        <a:bodyPr/>
        <a:lstStyle/>
        <a:p>
          <a:endParaRPr lang="ru-RU"/>
        </a:p>
      </dgm:t>
    </dgm:pt>
    <dgm:pt modelId="{DF68BBE5-357C-4523-9590-A1F347F2E4D5}" type="pres">
      <dgm:prSet presAssocID="{227DF3F0-CD83-439E-9D12-3BC155BE480C}" presName="connTx" presStyleLbl="parChTrans1D2" presStyleIdx="1" presStyleCnt="6"/>
      <dgm:spPr/>
      <dgm:t>
        <a:bodyPr/>
        <a:lstStyle/>
        <a:p>
          <a:endParaRPr lang="ru-RU"/>
        </a:p>
      </dgm:t>
    </dgm:pt>
    <dgm:pt modelId="{3AA883B5-673D-4F6A-BC3F-C63551190151}" type="pres">
      <dgm:prSet presAssocID="{9BAA1B06-2D4C-4007-8721-18C2A91E620F}" presName="node" presStyleLbl="node1" presStyleIdx="1" presStyleCnt="6" custScaleX="208475" custRadScaleRad="193276" custRadScaleInc="-4645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25C66D19-468E-4F7E-BD8C-44D86A955893}" type="pres">
      <dgm:prSet presAssocID="{A5EA1829-B9C6-4011-839B-C512CF9F6B3A}" presName="Name9" presStyleLbl="parChTrans1D2" presStyleIdx="2" presStyleCnt="6"/>
      <dgm:spPr/>
      <dgm:t>
        <a:bodyPr/>
        <a:lstStyle/>
        <a:p>
          <a:endParaRPr lang="ru-RU"/>
        </a:p>
      </dgm:t>
    </dgm:pt>
    <dgm:pt modelId="{3B1C7C27-4E82-4B46-86B1-8E884F95A139}" type="pres">
      <dgm:prSet presAssocID="{A5EA1829-B9C6-4011-839B-C512CF9F6B3A}" presName="connTx" presStyleLbl="parChTrans1D2" presStyleIdx="2" presStyleCnt="6"/>
      <dgm:spPr/>
      <dgm:t>
        <a:bodyPr/>
        <a:lstStyle/>
        <a:p>
          <a:endParaRPr lang="ru-RU"/>
        </a:p>
      </dgm:t>
    </dgm:pt>
    <dgm:pt modelId="{BCEBD3DF-A3CE-43C1-A0E7-3EDF65410C62}" type="pres">
      <dgm:prSet presAssocID="{8958C0D8-5C50-4080-9DF5-76F4EA1CD7B0}" presName="node" presStyleLbl="node1" presStyleIdx="2" presStyleCnt="6" custScaleX="222020" custScaleY="111602" custRadScaleRad="234663" custRadScaleInc="-120166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8F166F6A-F56D-48A0-A41C-F831BE56C720}" type="pres">
      <dgm:prSet presAssocID="{F2038774-A8BC-4143-9FE8-91BC9DD7EBDA}" presName="Name9" presStyleLbl="parChTrans1D2" presStyleIdx="3" presStyleCnt="6"/>
      <dgm:spPr/>
      <dgm:t>
        <a:bodyPr/>
        <a:lstStyle/>
        <a:p>
          <a:endParaRPr lang="ru-RU"/>
        </a:p>
      </dgm:t>
    </dgm:pt>
    <dgm:pt modelId="{67033968-A2AC-4577-B908-9A0B7473E27C}" type="pres">
      <dgm:prSet presAssocID="{F2038774-A8BC-4143-9FE8-91BC9DD7EBDA}" presName="connTx" presStyleLbl="parChTrans1D2" presStyleIdx="3" presStyleCnt="6"/>
      <dgm:spPr/>
      <dgm:t>
        <a:bodyPr/>
        <a:lstStyle/>
        <a:p>
          <a:endParaRPr lang="ru-RU"/>
        </a:p>
      </dgm:t>
    </dgm:pt>
    <dgm:pt modelId="{802BA96D-2826-404A-AD93-6107496A697F}" type="pres">
      <dgm:prSet presAssocID="{8F5F589E-3A66-4B14-88C7-1E3970303D0F}" presName="node" presStyleLbl="node1" presStyleIdx="3" presStyleCnt="6" custScaleX="218754" custRadScaleRad="211826" custRadScaleInc="-239320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C5EC774-5D0D-4366-B9BC-47C49D4AADEC}" type="pres">
      <dgm:prSet presAssocID="{8A1AD516-9446-4F91-8BB5-0EF10FF5168B}" presName="Name9" presStyleLbl="parChTrans1D2" presStyleIdx="4" presStyleCnt="6"/>
      <dgm:spPr/>
      <dgm:t>
        <a:bodyPr/>
        <a:lstStyle/>
        <a:p>
          <a:endParaRPr lang="ru-RU"/>
        </a:p>
      </dgm:t>
    </dgm:pt>
    <dgm:pt modelId="{0D2A3EB9-E8E9-4121-943A-03EDCFC98142}" type="pres">
      <dgm:prSet presAssocID="{8A1AD516-9446-4F91-8BB5-0EF10FF5168B}" presName="connTx" presStyleLbl="parChTrans1D2" presStyleIdx="4" presStyleCnt="6"/>
      <dgm:spPr/>
      <dgm:t>
        <a:bodyPr/>
        <a:lstStyle/>
        <a:p>
          <a:endParaRPr lang="ru-RU"/>
        </a:p>
      </dgm:t>
    </dgm:pt>
    <dgm:pt modelId="{9020EC0A-E19E-44E1-B97E-9F64F7AE5584}" type="pres">
      <dgm:prSet presAssocID="{9FA443E9-7004-4709-B69D-F56A51578F3F}" presName="node" presStyleLbl="node1" presStyleIdx="4" presStyleCnt="6" custScaleX="229624" custRadScaleRad="182625" custRadScaleInc="4152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E513FAD-1A45-4BFC-9667-3E21776D7189}" type="pres">
      <dgm:prSet presAssocID="{0033449E-C7E2-4472-A14B-FFCE2585C6DC}" presName="Name9" presStyleLbl="parChTrans1D2" presStyleIdx="5" presStyleCnt="6"/>
      <dgm:spPr/>
      <dgm:t>
        <a:bodyPr/>
        <a:lstStyle/>
        <a:p>
          <a:endParaRPr lang="ru-RU"/>
        </a:p>
      </dgm:t>
    </dgm:pt>
    <dgm:pt modelId="{AE909A3F-508C-436B-9B59-0869269BC77B}" type="pres">
      <dgm:prSet presAssocID="{0033449E-C7E2-4472-A14B-FFCE2585C6DC}" presName="connTx" presStyleLbl="parChTrans1D2" presStyleIdx="5" presStyleCnt="6"/>
      <dgm:spPr/>
      <dgm:t>
        <a:bodyPr/>
        <a:lstStyle/>
        <a:p>
          <a:endParaRPr lang="ru-RU"/>
        </a:p>
      </dgm:t>
    </dgm:pt>
    <dgm:pt modelId="{AC1C33B6-F496-4FC4-8969-25188BA45EAB}" type="pres">
      <dgm:prSet presAssocID="{7857C5AE-91E9-4E21-94DE-72F4392059F4}" presName="node" presStyleLbl="node1" presStyleIdx="5" presStyleCnt="6" custScaleX="277218" custScaleY="105917" custRadScaleRad="227805" custRadScaleInc="-79818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89D5FC68-5A5D-4A46-8049-573A74B2E957}" type="presOf" srcId="{8958C0D8-5C50-4080-9DF5-76F4EA1CD7B0}" destId="{BCEBD3DF-A3CE-43C1-A0E7-3EDF65410C62}" srcOrd="0" destOrd="0" presId="urn:microsoft.com/office/officeart/2005/8/layout/radial1"/>
    <dgm:cxn modelId="{33824F91-B064-4FF3-B3B4-18071ABC42E5}" type="presOf" srcId="{9BAA1B06-2D4C-4007-8721-18C2A91E620F}" destId="{3AA883B5-673D-4F6A-BC3F-C63551190151}" srcOrd="0" destOrd="0" presId="urn:microsoft.com/office/officeart/2005/8/layout/radial1"/>
    <dgm:cxn modelId="{71622938-7F0B-4AC7-8BC7-B6B74D10879A}" type="presOf" srcId="{7EA844B4-3B5A-4AAA-BB9B-C22AA03019A6}" destId="{AA664852-75D3-4581-8598-38A00ADBACF0}" srcOrd="0" destOrd="0" presId="urn:microsoft.com/office/officeart/2005/8/layout/radial1"/>
    <dgm:cxn modelId="{C72A6F70-694D-4A9E-89C6-849BE95D83E4}" type="presOf" srcId="{227DF3F0-CD83-439E-9D12-3BC155BE480C}" destId="{DF68BBE5-357C-4523-9590-A1F347F2E4D5}" srcOrd="1" destOrd="0" presId="urn:microsoft.com/office/officeart/2005/8/layout/radial1"/>
    <dgm:cxn modelId="{28176C99-1772-48E3-9537-36A20C8F944D}" srcId="{44601A57-A0DA-4F53-A78E-709EFBA9239D}" destId="{9FA443E9-7004-4709-B69D-F56A51578F3F}" srcOrd="4" destOrd="0" parTransId="{8A1AD516-9446-4F91-8BB5-0EF10FF5168B}" sibTransId="{128E0DA8-1D0F-442F-AB26-C25F72AC78B6}"/>
    <dgm:cxn modelId="{8AAA062F-726C-4F1C-8399-CA8D345DAC62}" srcId="{44601A57-A0DA-4F53-A78E-709EFBA9239D}" destId="{8958C0D8-5C50-4080-9DF5-76F4EA1CD7B0}" srcOrd="2" destOrd="0" parTransId="{A5EA1829-B9C6-4011-839B-C512CF9F6B3A}" sibTransId="{8073751B-4473-47A4-97CA-A3E174E3C06A}"/>
    <dgm:cxn modelId="{508727FD-285B-4CF5-9F43-8EC861614D36}" type="presOf" srcId="{A5EA1829-B9C6-4011-839B-C512CF9F6B3A}" destId="{3B1C7C27-4E82-4B46-86B1-8E884F95A139}" srcOrd="1" destOrd="0" presId="urn:microsoft.com/office/officeart/2005/8/layout/radial1"/>
    <dgm:cxn modelId="{CC5D4278-C084-4787-AB5F-EE1D1312281F}" srcId="{44601A57-A0DA-4F53-A78E-709EFBA9239D}" destId="{9BAA1B06-2D4C-4007-8721-18C2A91E620F}" srcOrd="1" destOrd="0" parTransId="{227DF3F0-CD83-439E-9D12-3BC155BE480C}" sibTransId="{B7B49466-765F-4B89-A387-0E890FF1D8CE}"/>
    <dgm:cxn modelId="{9B4C4BD6-0FF3-437B-B615-610242B6102A}" type="presOf" srcId="{F2038774-A8BC-4143-9FE8-91BC9DD7EBDA}" destId="{67033968-A2AC-4577-B908-9A0B7473E27C}" srcOrd="1" destOrd="0" presId="urn:microsoft.com/office/officeart/2005/8/layout/radial1"/>
    <dgm:cxn modelId="{6A0C6D58-DA74-438D-8514-55AB1FC260A0}" type="presOf" srcId="{0033449E-C7E2-4472-A14B-FFCE2585C6DC}" destId="{AE909A3F-508C-436B-9B59-0869269BC77B}" srcOrd="1" destOrd="0" presId="urn:microsoft.com/office/officeart/2005/8/layout/radial1"/>
    <dgm:cxn modelId="{8A03E1A0-8C86-44DC-947B-061840801FE0}" type="presOf" srcId="{F2038774-A8BC-4143-9FE8-91BC9DD7EBDA}" destId="{8F166F6A-F56D-48A0-A41C-F831BE56C720}" srcOrd="0" destOrd="0" presId="urn:microsoft.com/office/officeart/2005/8/layout/radial1"/>
    <dgm:cxn modelId="{F4F85CD3-9981-4731-8BBB-989E7E44DB00}" type="presOf" srcId="{8A1AD516-9446-4F91-8BB5-0EF10FF5168B}" destId="{0D2A3EB9-E8E9-4121-943A-03EDCFC98142}" srcOrd="1" destOrd="0" presId="urn:microsoft.com/office/officeart/2005/8/layout/radial1"/>
    <dgm:cxn modelId="{3D0816D6-388F-49FC-BDDF-8AE7D39FF223}" type="presOf" srcId="{9FA443E9-7004-4709-B69D-F56A51578F3F}" destId="{9020EC0A-E19E-44E1-B97E-9F64F7AE5584}" srcOrd="0" destOrd="0" presId="urn:microsoft.com/office/officeart/2005/8/layout/radial1"/>
    <dgm:cxn modelId="{00C0D5AC-3440-43FB-9FAE-AB5CAA6D9F4B}" srcId="{44601A57-A0DA-4F53-A78E-709EFBA9239D}" destId="{7857C5AE-91E9-4E21-94DE-72F4392059F4}" srcOrd="5" destOrd="0" parTransId="{0033449E-C7E2-4472-A14B-FFCE2585C6DC}" sibTransId="{ADA4AEEB-1564-4193-B61A-6B838FF934CA}"/>
    <dgm:cxn modelId="{4FCC0AEE-7F32-44A9-B42B-844DF0895187}" type="presOf" srcId="{F857DB59-C732-4D5F-A998-7B9F52CF023B}" destId="{BD9AA21D-E2C2-4478-A712-ECBDFC37BFD5}" srcOrd="0" destOrd="0" presId="urn:microsoft.com/office/officeart/2005/8/layout/radial1"/>
    <dgm:cxn modelId="{6B72DAA5-E241-4E9B-9752-5E1BA08D2930}" srcId="{44601A57-A0DA-4F53-A78E-709EFBA9239D}" destId="{8F5F589E-3A66-4B14-88C7-1E3970303D0F}" srcOrd="3" destOrd="0" parTransId="{F2038774-A8BC-4143-9FE8-91BC9DD7EBDA}" sibTransId="{DBBD5867-F841-4DFF-AD15-09292E37FF11}"/>
    <dgm:cxn modelId="{F173FE90-0763-4F2D-AA5F-6347E88A9444}" type="presOf" srcId="{F7F8A46E-3EFD-4B48-B0B7-7C1D76AEF4CB}" destId="{7123B129-BC16-4B7A-95FC-53B4505CC376}" srcOrd="0" destOrd="0" presId="urn:microsoft.com/office/officeart/2005/8/layout/radial1"/>
    <dgm:cxn modelId="{A578EB66-702E-41B7-9A82-A51526EF6A33}" type="presOf" srcId="{227DF3F0-CD83-439E-9D12-3BC155BE480C}" destId="{38C19231-2DC9-41A0-BA83-FCA15689AD36}" srcOrd="0" destOrd="0" presId="urn:microsoft.com/office/officeart/2005/8/layout/radial1"/>
    <dgm:cxn modelId="{398300FF-7797-450B-AD38-932BEC983300}" srcId="{7EA844B4-3B5A-4AAA-BB9B-C22AA03019A6}" destId="{44601A57-A0DA-4F53-A78E-709EFBA9239D}" srcOrd="0" destOrd="0" parTransId="{2026D549-6AFB-4424-A2AC-84238799F6FA}" sibTransId="{EBFCE9A1-716B-45EA-9E06-54EAA844F7C1}"/>
    <dgm:cxn modelId="{4AD0FDA2-14AE-4A4F-9385-CF9646F9A279}" type="presOf" srcId="{A5EA1829-B9C6-4011-839B-C512CF9F6B3A}" destId="{25C66D19-468E-4F7E-BD8C-44D86A955893}" srcOrd="0" destOrd="0" presId="urn:microsoft.com/office/officeart/2005/8/layout/radial1"/>
    <dgm:cxn modelId="{B7007A61-6FC1-4D11-8B5F-43C44FF34794}" srcId="{44601A57-A0DA-4F53-A78E-709EFBA9239D}" destId="{F7F8A46E-3EFD-4B48-B0B7-7C1D76AEF4CB}" srcOrd="0" destOrd="0" parTransId="{F857DB59-C732-4D5F-A998-7B9F52CF023B}" sibTransId="{6DAD2588-01DE-45BF-A831-D9D0C9945810}"/>
    <dgm:cxn modelId="{A1EC10B8-85B5-4B49-9CAD-37CF23ABFFE6}" type="presOf" srcId="{0033449E-C7E2-4472-A14B-FFCE2585C6DC}" destId="{7E513FAD-1A45-4BFC-9667-3E21776D7189}" srcOrd="0" destOrd="0" presId="urn:microsoft.com/office/officeart/2005/8/layout/radial1"/>
    <dgm:cxn modelId="{DD8361D4-5E05-457F-BC55-4F9A9E1CBD6E}" type="presOf" srcId="{8A1AD516-9446-4F91-8BB5-0EF10FF5168B}" destId="{1C5EC774-5D0D-4366-B9BC-47C49D4AADEC}" srcOrd="0" destOrd="0" presId="urn:microsoft.com/office/officeart/2005/8/layout/radial1"/>
    <dgm:cxn modelId="{6F4E7A90-6ABA-4981-8253-634B8F44B429}" type="presOf" srcId="{8F5F589E-3A66-4B14-88C7-1E3970303D0F}" destId="{802BA96D-2826-404A-AD93-6107496A697F}" srcOrd="0" destOrd="0" presId="urn:microsoft.com/office/officeart/2005/8/layout/radial1"/>
    <dgm:cxn modelId="{C2544BB2-FF97-41C8-8E78-8264FED7F562}" type="presOf" srcId="{F857DB59-C732-4D5F-A998-7B9F52CF023B}" destId="{BD009FD6-6978-4DA5-908D-96E3153CBE4A}" srcOrd="1" destOrd="0" presId="urn:microsoft.com/office/officeart/2005/8/layout/radial1"/>
    <dgm:cxn modelId="{307C0C5A-FEA7-4A1F-B6BE-AACE2F260136}" type="presOf" srcId="{44601A57-A0DA-4F53-A78E-709EFBA9239D}" destId="{FCDA324B-E7CB-4FB3-B6F9-954D150FE78A}" srcOrd="0" destOrd="0" presId="urn:microsoft.com/office/officeart/2005/8/layout/radial1"/>
    <dgm:cxn modelId="{6DD00788-8EF0-4C8D-9824-636886F901C5}" type="presOf" srcId="{7857C5AE-91E9-4E21-94DE-72F4392059F4}" destId="{AC1C33B6-F496-4FC4-8969-25188BA45EAB}" srcOrd="0" destOrd="0" presId="urn:microsoft.com/office/officeart/2005/8/layout/radial1"/>
    <dgm:cxn modelId="{4FC6636B-A0D1-480D-983E-85EE660677BE}" type="presParOf" srcId="{AA664852-75D3-4581-8598-38A00ADBACF0}" destId="{FCDA324B-E7CB-4FB3-B6F9-954D150FE78A}" srcOrd="0" destOrd="0" presId="urn:microsoft.com/office/officeart/2005/8/layout/radial1"/>
    <dgm:cxn modelId="{8DEE3AE6-47E5-49CE-80BB-77D11B26649A}" type="presParOf" srcId="{AA664852-75D3-4581-8598-38A00ADBACF0}" destId="{BD9AA21D-E2C2-4478-A712-ECBDFC37BFD5}" srcOrd="1" destOrd="0" presId="urn:microsoft.com/office/officeart/2005/8/layout/radial1"/>
    <dgm:cxn modelId="{123D5CDF-D95C-4419-A424-2153432A70E2}" type="presParOf" srcId="{BD9AA21D-E2C2-4478-A712-ECBDFC37BFD5}" destId="{BD009FD6-6978-4DA5-908D-96E3153CBE4A}" srcOrd="0" destOrd="0" presId="urn:microsoft.com/office/officeart/2005/8/layout/radial1"/>
    <dgm:cxn modelId="{2E9AEA1A-3582-492F-8843-47F1C24F53C4}" type="presParOf" srcId="{AA664852-75D3-4581-8598-38A00ADBACF0}" destId="{7123B129-BC16-4B7A-95FC-53B4505CC376}" srcOrd="2" destOrd="0" presId="urn:microsoft.com/office/officeart/2005/8/layout/radial1"/>
    <dgm:cxn modelId="{E64D9B54-226E-4042-B8E5-AE3AF088C488}" type="presParOf" srcId="{AA664852-75D3-4581-8598-38A00ADBACF0}" destId="{38C19231-2DC9-41A0-BA83-FCA15689AD36}" srcOrd="3" destOrd="0" presId="urn:microsoft.com/office/officeart/2005/8/layout/radial1"/>
    <dgm:cxn modelId="{7027B184-16CA-4A8E-83AA-55C73580E4AC}" type="presParOf" srcId="{38C19231-2DC9-41A0-BA83-FCA15689AD36}" destId="{DF68BBE5-357C-4523-9590-A1F347F2E4D5}" srcOrd="0" destOrd="0" presId="urn:microsoft.com/office/officeart/2005/8/layout/radial1"/>
    <dgm:cxn modelId="{CB47467B-D7E2-41E9-AC0C-FAF0C608E6E5}" type="presParOf" srcId="{AA664852-75D3-4581-8598-38A00ADBACF0}" destId="{3AA883B5-673D-4F6A-BC3F-C63551190151}" srcOrd="4" destOrd="0" presId="urn:microsoft.com/office/officeart/2005/8/layout/radial1"/>
    <dgm:cxn modelId="{F6AFE28F-C069-4D1B-965F-2F9211D8C68B}" type="presParOf" srcId="{AA664852-75D3-4581-8598-38A00ADBACF0}" destId="{25C66D19-468E-4F7E-BD8C-44D86A955893}" srcOrd="5" destOrd="0" presId="urn:microsoft.com/office/officeart/2005/8/layout/radial1"/>
    <dgm:cxn modelId="{42B7971F-910B-4520-BDD4-30516B49CE69}" type="presParOf" srcId="{25C66D19-468E-4F7E-BD8C-44D86A955893}" destId="{3B1C7C27-4E82-4B46-86B1-8E884F95A139}" srcOrd="0" destOrd="0" presId="urn:microsoft.com/office/officeart/2005/8/layout/radial1"/>
    <dgm:cxn modelId="{CFCC2E53-D7B1-488F-A87E-4D83EC551563}" type="presParOf" srcId="{AA664852-75D3-4581-8598-38A00ADBACF0}" destId="{BCEBD3DF-A3CE-43C1-A0E7-3EDF65410C62}" srcOrd="6" destOrd="0" presId="urn:microsoft.com/office/officeart/2005/8/layout/radial1"/>
    <dgm:cxn modelId="{16875BA6-7D5A-4639-95F3-9357082894FE}" type="presParOf" srcId="{AA664852-75D3-4581-8598-38A00ADBACF0}" destId="{8F166F6A-F56D-48A0-A41C-F831BE56C720}" srcOrd="7" destOrd="0" presId="urn:microsoft.com/office/officeart/2005/8/layout/radial1"/>
    <dgm:cxn modelId="{FF054143-EB6B-447D-A470-2E2F89DB3B75}" type="presParOf" srcId="{8F166F6A-F56D-48A0-A41C-F831BE56C720}" destId="{67033968-A2AC-4577-B908-9A0B7473E27C}" srcOrd="0" destOrd="0" presId="urn:microsoft.com/office/officeart/2005/8/layout/radial1"/>
    <dgm:cxn modelId="{CB9E84E8-134A-4ACC-ADB6-415CF279B793}" type="presParOf" srcId="{AA664852-75D3-4581-8598-38A00ADBACF0}" destId="{802BA96D-2826-404A-AD93-6107496A697F}" srcOrd="8" destOrd="0" presId="urn:microsoft.com/office/officeart/2005/8/layout/radial1"/>
    <dgm:cxn modelId="{2EC5B6BC-42A0-4AB9-A6B2-E8AF4F77BBE2}" type="presParOf" srcId="{AA664852-75D3-4581-8598-38A00ADBACF0}" destId="{1C5EC774-5D0D-4366-B9BC-47C49D4AADEC}" srcOrd="9" destOrd="0" presId="urn:microsoft.com/office/officeart/2005/8/layout/radial1"/>
    <dgm:cxn modelId="{5D61E78A-DBAB-49B2-BAC4-A09B3DE195BD}" type="presParOf" srcId="{1C5EC774-5D0D-4366-B9BC-47C49D4AADEC}" destId="{0D2A3EB9-E8E9-4121-943A-03EDCFC98142}" srcOrd="0" destOrd="0" presId="urn:microsoft.com/office/officeart/2005/8/layout/radial1"/>
    <dgm:cxn modelId="{6D0BDAE2-294A-4459-BCEA-C52AF59DFF19}" type="presParOf" srcId="{AA664852-75D3-4581-8598-38A00ADBACF0}" destId="{9020EC0A-E19E-44E1-B97E-9F64F7AE5584}" srcOrd="10" destOrd="0" presId="urn:microsoft.com/office/officeart/2005/8/layout/radial1"/>
    <dgm:cxn modelId="{68AA1BCE-6474-4829-9500-14DBA592C45D}" type="presParOf" srcId="{AA664852-75D3-4581-8598-38A00ADBACF0}" destId="{7E513FAD-1A45-4BFC-9667-3E21776D7189}" srcOrd="11" destOrd="0" presId="urn:microsoft.com/office/officeart/2005/8/layout/radial1"/>
    <dgm:cxn modelId="{2CB9D94A-FF2E-4E4E-B905-0AAD8A3193C8}" type="presParOf" srcId="{7E513FAD-1A45-4BFC-9667-3E21776D7189}" destId="{AE909A3F-508C-436B-9B59-0869269BC77B}" srcOrd="0" destOrd="0" presId="urn:microsoft.com/office/officeart/2005/8/layout/radial1"/>
    <dgm:cxn modelId="{87A962C2-6ABB-4BF1-A0E2-AEDBEEE87DB8}" type="presParOf" srcId="{AA664852-75D3-4581-8598-38A00ADBACF0}" destId="{AC1C33B6-F496-4FC4-8969-25188BA45EAB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A324B-E7CB-4FB3-B6F9-954D150FE78A}">
      <dsp:nvSpPr>
        <dsp:cNvPr id="0" name=""/>
        <dsp:cNvSpPr/>
      </dsp:nvSpPr>
      <dsp:spPr>
        <a:xfrm>
          <a:off x="3860399" y="1093607"/>
          <a:ext cx="980562" cy="12901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800" kern="1200" dirty="0" err="1" smtClean="0"/>
            <a:t>Cl</a:t>
          </a:r>
          <a:endParaRPr lang="uk-UA" sz="5800" kern="1200" dirty="0"/>
        </a:p>
      </dsp:txBody>
      <dsp:txXfrm>
        <a:off x="4003999" y="1282542"/>
        <a:ext cx="693362" cy="912256"/>
      </dsp:txXfrm>
    </dsp:sp>
    <dsp:sp modelId="{BD9AA21D-E2C2-4478-A712-ECBDFC37BFD5}">
      <dsp:nvSpPr>
        <dsp:cNvPr id="0" name=""/>
        <dsp:cNvSpPr/>
      </dsp:nvSpPr>
      <dsp:spPr>
        <a:xfrm rot="9877554">
          <a:off x="2870052" y="1995506"/>
          <a:ext cx="1018945" cy="20383"/>
        </a:xfrm>
        <a:custGeom>
          <a:avLst/>
          <a:gdLst/>
          <a:ahLst/>
          <a:cxnLst/>
          <a:rect l="0" t="0" r="0" b="0"/>
          <a:pathLst>
            <a:path>
              <a:moveTo>
                <a:pt x="0" y="10191"/>
              </a:moveTo>
              <a:lnTo>
                <a:pt x="1018945" y="101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354051" y="1980225"/>
        <a:ext cx="50947" cy="50947"/>
      </dsp:txXfrm>
    </dsp:sp>
    <dsp:sp modelId="{7123B129-BC16-4B7A-95FC-53B4505CC376}">
      <dsp:nvSpPr>
        <dsp:cNvPr id="0" name=""/>
        <dsp:cNvSpPr/>
      </dsp:nvSpPr>
      <dsp:spPr>
        <a:xfrm>
          <a:off x="1089058" y="1831651"/>
          <a:ext cx="1891819" cy="10874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baseline="0" dirty="0" smtClean="0"/>
            <a:t>У морській воді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</a:t>
          </a:r>
          <a:r>
            <a:rPr lang="en-US" sz="2000" kern="1200" baseline="30000" dirty="0" smtClean="0"/>
            <a:t>-</a:t>
          </a:r>
          <a:endParaRPr lang="uk-UA" sz="2000" kern="1200" dirty="0"/>
        </a:p>
      </dsp:txBody>
      <dsp:txXfrm>
        <a:off x="1366108" y="1990911"/>
        <a:ext cx="1337719" cy="768972"/>
      </dsp:txXfrm>
    </dsp:sp>
    <dsp:sp modelId="{38C19231-2DC9-41A0-BA83-FCA15689AD36}">
      <dsp:nvSpPr>
        <dsp:cNvPr id="0" name=""/>
        <dsp:cNvSpPr/>
      </dsp:nvSpPr>
      <dsp:spPr>
        <a:xfrm rot="760968">
          <a:off x="4822224" y="1942687"/>
          <a:ext cx="960618" cy="20383"/>
        </a:xfrm>
        <a:custGeom>
          <a:avLst/>
          <a:gdLst/>
          <a:ahLst/>
          <a:cxnLst/>
          <a:rect l="0" t="0" r="0" b="0"/>
          <a:pathLst>
            <a:path>
              <a:moveTo>
                <a:pt x="0" y="10191"/>
              </a:moveTo>
              <a:lnTo>
                <a:pt x="960618" y="101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278518" y="1928864"/>
        <a:ext cx="48030" cy="48030"/>
      </dsp:txXfrm>
    </dsp:sp>
    <dsp:sp modelId="{3AA883B5-673D-4F6A-BC3F-C63551190151}">
      <dsp:nvSpPr>
        <dsp:cNvPr id="0" name=""/>
        <dsp:cNvSpPr/>
      </dsp:nvSpPr>
      <dsp:spPr>
        <a:xfrm>
          <a:off x="5697576" y="1759646"/>
          <a:ext cx="1849821" cy="980562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/>
            <a:t>Шлунковий сік</a:t>
          </a:r>
          <a:endParaRPr lang="uk-UA" sz="2000" kern="1200" dirty="0"/>
        </a:p>
      </dsp:txBody>
      <dsp:txXfrm>
        <a:off x="5968476" y="1903246"/>
        <a:ext cx="1308021" cy="693362"/>
      </dsp:txXfrm>
    </dsp:sp>
    <dsp:sp modelId="{25C66D19-468E-4F7E-BD8C-44D86A955893}">
      <dsp:nvSpPr>
        <dsp:cNvPr id="0" name=""/>
        <dsp:cNvSpPr/>
      </dsp:nvSpPr>
      <dsp:spPr>
        <a:xfrm rot="21279312">
          <a:off x="4835315" y="1588211"/>
          <a:ext cx="2029302" cy="20383"/>
        </a:xfrm>
        <a:custGeom>
          <a:avLst/>
          <a:gdLst/>
          <a:ahLst/>
          <a:cxnLst/>
          <a:rect l="0" t="0" r="0" b="0"/>
          <a:pathLst>
            <a:path>
              <a:moveTo>
                <a:pt x="0" y="10191"/>
              </a:moveTo>
              <a:lnTo>
                <a:pt x="2029302" y="101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700" kern="1200"/>
        </a:p>
      </dsp:txBody>
      <dsp:txXfrm>
        <a:off x="5799234" y="1547670"/>
        <a:ext cx="101465" cy="101465"/>
      </dsp:txXfrm>
    </dsp:sp>
    <dsp:sp modelId="{BCEBD3DF-A3CE-43C1-A0E7-3EDF65410C62}">
      <dsp:nvSpPr>
        <dsp:cNvPr id="0" name=""/>
        <dsp:cNvSpPr/>
      </dsp:nvSpPr>
      <dsp:spPr>
        <a:xfrm>
          <a:off x="6849698" y="936203"/>
          <a:ext cx="1675732" cy="980562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/>
            <a:t>Плазма крові</a:t>
          </a:r>
          <a:endParaRPr lang="uk-UA" sz="2000" kern="1200" dirty="0"/>
        </a:p>
      </dsp:txBody>
      <dsp:txXfrm>
        <a:off x="7095103" y="1079803"/>
        <a:ext cx="1184922" cy="693362"/>
      </dsp:txXfrm>
    </dsp:sp>
    <dsp:sp modelId="{8F166F6A-F56D-48A0-A41C-F831BE56C720}">
      <dsp:nvSpPr>
        <dsp:cNvPr id="0" name=""/>
        <dsp:cNvSpPr/>
      </dsp:nvSpPr>
      <dsp:spPr>
        <a:xfrm rot="19792983">
          <a:off x="4745454" y="1268126"/>
          <a:ext cx="797669" cy="20383"/>
        </a:xfrm>
        <a:custGeom>
          <a:avLst/>
          <a:gdLst/>
          <a:ahLst/>
          <a:cxnLst/>
          <a:rect l="0" t="0" r="0" b="0"/>
          <a:pathLst>
            <a:path>
              <a:moveTo>
                <a:pt x="0" y="10191"/>
              </a:moveTo>
              <a:lnTo>
                <a:pt x="797669" y="101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124347" y="1258376"/>
        <a:ext cx="39883" cy="39883"/>
      </dsp:txXfrm>
    </dsp:sp>
    <dsp:sp modelId="{802BA96D-2826-404A-AD93-6107496A697F}">
      <dsp:nvSpPr>
        <dsp:cNvPr id="0" name=""/>
        <dsp:cNvSpPr/>
      </dsp:nvSpPr>
      <dsp:spPr>
        <a:xfrm>
          <a:off x="5150838" y="0"/>
          <a:ext cx="2229995" cy="1255473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k-UA" sz="2000" kern="1200" baseline="0" dirty="0" smtClean="0"/>
            <a:t>В організмі людини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sz="2000" kern="1200" baseline="0" dirty="0" smtClean="0"/>
            <a:t>w</a:t>
          </a:r>
          <a:r>
            <a:rPr lang="en-US" sz="2000" kern="1200" baseline="-25000" dirty="0" smtClean="0"/>
            <a:t> </a:t>
          </a:r>
          <a:r>
            <a:rPr lang="uk-UA" sz="2000" kern="1200" baseline="0" dirty="0" smtClean="0"/>
            <a:t>= 0,25%</a:t>
          </a:r>
          <a:endParaRPr lang="uk-UA" sz="2000" kern="1200" baseline="0" dirty="0"/>
        </a:p>
      </dsp:txBody>
      <dsp:txXfrm>
        <a:off x="5477413" y="183860"/>
        <a:ext cx="1576845" cy="887753"/>
      </dsp:txXfrm>
    </dsp:sp>
    <dsp:sp modelId="{1C5EC774-5D0D-4366-B9BC-47C49D4AADEC}">
      <dsp:nvSpPr>
        <dsp:cNvPr id="0" name=""/>
        <dsp:cNvSpPr/>
      </dsp:nvSpPr>
      <dsp:spPr>
        <a:xfrm rot="11046564">
          <a:off x="1928641" y="1623975"/>
          <a:ext cx="1934974" cy="20383"/>
        </a:xfrm>
        <a:custGeom>
          <a:avLst/>
          <a:gdLst/>
          <a:ahLst/>
          <a:cxnLst/>
          <a:rect l="0" t="0" r="0" b="0"/>
          <a:pathLst>
            <a:path>
              <a:moveTo>
                <a:pt x="0" y="10191"/>
              </a:moveTo>
              <a:lnTo>
                <a:pt x="1934974" y="101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600" kern="1200"/>
        </a:p>
      </dsp:txBody>
      <dsp:txXfrm rot="10800000">
        <a:off x="2847754" y="1585792"/>
        <a:ext cx="96748" cy="96748"/>
      </dsp:txXfrm>
    </dsp:sp>
    <dsp:sp modelId="{9020EC0A-E19E-44E1-B97E-9F64F7AE5584}">
      <dsp:nvSpPr>
        <dsp:cNvPr id="0" name=""/>
        <dsp:cNvSpPr/>
      </dsp:nvSpPr>
      <dsp:spPr>
        <a:xfrm>
          <a:off x="258742" y="1014703"/>
          <a:ext cx="1678664" cy="980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/>
            <a:t>Мінерали</a:t>
          </a:r>
          <a:endParaRPr lang="uk-UA" sz="2000" kern="1200" dirty="0"/>
        </a:p>
      </dsp:txBody>
      <dsp:txXfrm>
        <a:off x="504577" y="1158303"/>
        <a:ext cx="1186994" cy="693362"/>
      </dsp:txXfrm>
    </dsp:sp>
    <dsp:sp modelId="{7E513FAD-1A45-4BFC-9667-3E21776D7189}">
      <dsp:nvSpPr>
        <dsp:cNvPr id="0" name=""/>
        <dsp:cNvSpPr/>
      </dsp:nvSpPr>
      <dsp:spPr>
        <a:xfrm rot="12648986">
          <a:off x="3142340" y="1252163"/>
          <a:ext cx="819671" cy="20383"/>
        </a:xfrm>
        <a:custGeom>
          <a:avLst/>
          <a:gdLst/>
          <a:ahLst/>
          <a:cxnLst/>
          <a:rect l="0" t="0" r="0" b="0"/>
          <a:pathLst>
            <a:path>
              <a:moveTo>
                <a:pt x="0" y="10191"/>
              </a:moveTo>
              <a:lnTo>
                <a:pt x="819671" y="101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531684" y="1241864"/>
        <a:ext cx="40983" cy="40983"/>
      </dsp:txXfrm>
    </dsp:sp>
    <dsp:sp modelId="{AC1C33B6-F496-4FC4-8969-25188BA45EAB}">
      <dsp:nvSpPr>
        <dsp:cNvPr id="0" name=""/>
        <dsp:cNvSpPr/>
      </dsp:nvSpPr>
      <dsp:spPr>
        <a:xfrm>
          <a:off x="1520636" y="0"/>
          <a:ext cx="1934855" cy="12552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/>
            <a:t>У земній корі</a:t>
          </a:r>
          <a:r>
            <a:rPr lang="en-US" sz="2000" kern="1200" dirty="0" smtClean="0"/>
            <a:t> </a:t>
          </a:r>
          <a:r>
            <a:rPr lang="ru-RU" sz="2000" kern="1200" dirty="0" smtClean="0"/>
            <a:t> </a:t>
          </a:r>
          <a:r>
            <a:rPr lang="en-US" sz="2000" i="0" kern="1200" dirty="0" smtClean="0"/>
            <a:t>w=</a:t>
          </a:r>
          <a:r>
            <a:rPr lang="uk-UA" sz="2000" i="0" kern="1200" dirty="0" smtClean="0"/>
            <a:t>0,02% </a:t>
          </a:r>
        </a:p>
      </dsp:txBody>
      <dsp:txXfrm>
        <a:off x="1803989" y="183821"/>
        <a:ext cx="1368149" cy="887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A324B-E7CB-4FB3-B6F9-954D150FE78A}">
      <dsp:nvSpPr>
        <dsp:cNvPr id="0" name=""/>
        <dsp:cNvSpPr/>
      </dsp:nvSpPr>
      <dsp:spPr>
        <a:xfrm>
          <a:off x="3985653" y="1130018"/>
          <a:ext cx="994739" cy="1308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400" kern="1200" dirty="0" smtClean="0"/>
            <a:t>Br</a:t>
          </a:r>
          <a:endParaRPr lang="uk-UA" sz="5400" kern="1200" dirty="0"/>
        </a:p>
      </dsp:txBody>
      <dsp:txXfrm>
        <a:off x="4131329" y="1321684"/>
        <a:ext cx="703387" cy="925446"/>
      </dsp:txXfrm>
    </dsp:sp>
    <dsp:sp modelId="{BD9AA21D-E2C2-4478-A712-ECBDFC37BFD5}">
      <dsp:nvSpPr>
        <dsp:cNvPr id="0" name=""/>
        <dsp:cNvSpPr/>
      </dsp:nvSpPr>
      <dsp:spPr>
        <a:xfrm rot="12815154">
          <a:off x="3222634" y="1233021"/>
          <a:ext cx="890716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890716" y="101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645724" y="1220923"/>
        <a:ext cx="44535" cy="44535"/>
      </dsp:txXfrm>
    </dsp:sp>
    <dsp:sp modelId="{7123B129-BC16-4B7A-95FC-53B4505CC376}">
      <dsp:nvSpPr>
        <dsp:cNvPr id="0" name=""/>
        <dsp:cNvSpPr/>
      </dsp:nvSpPr>
      <dsp:spPr>
        <a:xfrm>
          <a:off x="1270703" y="-44867"/>
          <a:ext cx="2622053" cy="11334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Br </a:t>
          </a:r>
          <a:r>
            <a:rPr lang="uk-UA" sz="2000" kern="1200" baseline="0" dirty="0" smtClean="0"/>
            <a:t>як супутник в складі калійних мінералів </a:t>
          </a:r>
          <a:endParaRPr lang="uk-UA" sz="2000" kern="1200" baseline="0" dirty="0"/>
        </a:p>
      </dsp:txBody>
      <dsp:txXfrm>
        <a:off x="1654694" y="121125"/>
        <a:ext cx="1854071" cy="801481"/>
      </dsp:txXfrm>
    </dsp:sp>
    <dsp:sp modelId="{38C19231-2DC9-41A0-BA83-FCA15689AD36}">
      <dsp:nvSpPr>
        <dsp:cNvPr id="0" name=""/>
        <dsp:cNvSpPr/>
      </dsp:nvSpPr>
      <dsp:spPr>
        <a:xfrm rot="19736031">
          <a:off x="4846131" y="1181202"/>
          <a:ext cx="1242583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1242583" y="101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436358" y="1160307"/>
        <a:ext cx="62129" cy="62129"/>
      </dsp:txXfrm>
    </dsp:sp>
    <dsp:sp modelId="{3AA883B5-673D-4F6A-BC3F-C63551190151}">
      <dsp:nvSpPr>
        <dsp:cNvPr id="0" name=""/>
        <dsp:cNvSpPr/>
      </dsp:nvSpPr>
      <dsp:spPr>
        <a:xfrm>
          <a:off x="5681140" y="0"/>
          <a:ext cx="1876565" cy="994739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/>
            <a:t>В організмі людини (250 мг)</a:t>
          </a:r>
          <a:endParaRPr lang="uk-UA" sz="2000" kern="1200" dirty="0"/>
        </a:p>
      </dsp:txBody>
      <dsp:txXfrm>
        <a:off x="5955957" y="145676"/>
        <a:ext cx="1326931" cy="703387"/>
      </dsp:txXfrm>
    </dsp:sp>
    <dsp:sp modelId="{25C66D19-468E-4F7E-BD8C-44D86A955893}">
      <dsp:nvSpPr>
        <dsp:cNvPr id="0" name=""/>
        <dsp:cNvSpPr/>
      </dsp:nvSpPr>
      <dsp:spPr>
        <a:xfrm rot="1188846">
          <a:off x="4937306" y="2092644"/>
          <a:ext cx="858888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858888" y="101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345279" y="2081342"/>
        <a:ext cx="42944" cy="42944"/>
      </dsp:txXfrm>
    </dsp:sp>
    <dsp:sp modelId="{BCEBD3DF-A3CE-43C1-A0E7-3EDF65410C62}">
      <dsp:nvSpPr>
        <dsp:cNvPr id="0" name=""/>
        <dsp:cNvSpPr/>
      </dsp:nvSpPr>
      <dsp:spPr>
        <a:xfrm>
          <a:off x="5590382" y="2038714"/>
          <a:ext cx="1957786" cy="994739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baseline="0" dirty="0" smtClean="0"/>
            <a:t>Кісткова тканина, м'язи, кров </a:t>
          </a:r>
          <a:endParaRPr lang="uk-UA" sz="2000" kern="1200" dirty="0"/>
        </a:p>
      </dsp:txBody>
      <dsp:txXfrm>
        <a:off x="5877093" y="2184390"/>
        <a:ext cx="1384364" cy="703387"/>
      </dsp:txXfrm>
    </dsp:sp>
    <dsp:sp modelId="{8F166F6A-F56D-48A0-A41C-F831BE56C720}">
      <dsp:nvSpPr>
        <dsp:cNvPr id="0" name=""/>
        <dsp:cNvSpPr/>
      </dsp:nvSpPr>
      <dsp:spPr>
        <a:xfrm rot="21291660">
          <a:off x="4976482" y="1668272"/>
          <a:ext cx="1369595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1369595" y="101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627040" y="1644202"/>
        <a:ext cx="68479" cy="68479"/>
      </dsp:txXfrm>
    </dsp:sp>
    <dsp:sp modelId="{802BA96D-2826-404A-AD93-6107496A697F}">
      <dsp:nvSpPr>
        <dsp:cNvPr id="0" name=""/>
        <dsp:cNvSpPr/>
      </dsp:nvSpPr>
      <dsp:spPr>
        <a:xfrm>
          <a:off x="6329987" y="909933"/>
          <a:ext cx="2157768" cy="1222683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baseline="0" dirty="0" smtClean="0"/>
            <a:t>Щитовидна залоза, підшлункова залоза</a:t>
          </a:r>
          <a:endParaRPr lang="uk-UA" sz="2000" kern="1200" baseline="0" dirty="0"/>
        </a:p>
      </dsp:txBody>
      <dsp:txXfrm>
        <a:off x="6645985" y="1088991"/>
        <a:ext cx="1525772" cy="864567"/>
      </dsp:txXfrm>
    </dsp:sp>
    <dsp:sp modelId="{1C5EC774-5D0D-4366-B9BC-47C49D4AADEC}">
      <dsp:nvSpPr>
        <dsp:cNvPr id="0" name=""/>
        <dsp:cNvSpPr/>
      </dsp:nvSpPr>
      <dsp:spPr>
        <a:xfrm rot="9429984">
          <a:off x="3054706" y="2166466"/>
          <a:ext cx="99354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93542" y="101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526638" y="2151797"/>
        <a:ext cx="49677" cy="49677"/>
      </dsp:txXfrm>
    </dsp:sp>
    <dsp:sp modelId="{9020EC0A-E19E-44E1-B97E-9F64F7AE5584}">
      <dsp:nvSpPr>
        <dsp:cNvPr id="0" name=""/>
        <dsp:cNvSpPr/>
      </dsp:nvSpPr>
      <dsp:spPr>
        <a:xfrm>
          <a:off x="1130482" y="2217755"/>
          <a:ext cx="2284160" cy="994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i="0" kern="1200" dirty="0" smtClean="0"/>
            <a:t>Розсоли соляних озер </a:t>
          </a:r>
          <a:r>
            <a:rPr lang="en-US" sz="2000" i="0" kern="1200" dirty="0" smtClean="0"/>
            <a:t>w(Br</a:t>
          </a:r>
          <a:r>
            <a:rPr lang="en-US" sz="2000" kern="1200" baseline="30000" dirty="0" smtClean="0"/>
            <a:t>-</a:t>
          </a:r>
          <a:r>
            <a:rPr lang="en-US" sz="2000" i="0" kern="1200" dirty="0" smtClean="0"/>
            <a:t>)=</a:t>
          </a:r>
          <a:r>
            <a:rPr lang="uk-UA" sz="2000" i="0" kern="1200" dirty="0" smtClean="0"/>
            <a:t>0,2% </a:t>
          </a:r>
          <a:endParaRPr lang="uk-UA" sz="2000" i="0" kern="1200" dirty="0"/>
        </a:p>
      </dsp:txBody>
      <dsp:txXfrm>
        <a:off x="1464989" y="2363431"/>
        <a:ext cx="1615146" cy="703387"/>
      </dsp:txXfrm>
    </dsp:sp>
    <dsp:sp modelId="{7E513FAD-1A45-4BFC-9667-3E21776D7189}">
      <dsp:nvSpPr>
        <dsp:cNvPr id="0" name=""/>
        <dsp:cNvSpPr/>
      </dsp:nvSpPr>
      <dsp:spPr>
        <a:xfrm rot="10910700">
          <a:off x="2679113" y="1737180"/>
          <a:ext cx="1307027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1307027" y="101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299952" y="1714674"/>
        <a:ext cx="65351" cy="65351"/>
      </dsp:txXfrm>
    </dsp:sp>
    <dsp:sp modelId="{AC1C33B6-F496-4FC4-8969-25188BA45EAB}">
      <dsp:nvSpPr>
        <dsp:cNvPr id="0" name=""/>
        <dsp:cNvSpPr/>
      </dsp:nvSpPr>
      <dsp:spPr>
        <a:xfrm>
          <a:off x="403625" y="1130372"/>
          <a:ext cx="2278271" cy="1118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k-UA" sz="2000" i="0" kern="1200" dirty="0" smtClean="0"/>
            <a:t>У морській воді</a:t>
          </a:r>
          <a:r>
            <a:rPr lang="en-US" sz="2000" i="0" kern="1200" dirty="0" smtClean="0"/>
            <a:t>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sz="2000" i="0" kern="1200" dirty="0" smtClean="0"/>
            <a:t>w(Br</a:t>
          </a:r>
          <a:r>
            <a:rPr lang="en-US" sz="2000" kern="1200" baseline="30000" dirty="0" smtClean="0"/>
            <a:t>-</a:t>
          </a:r>
          <a:r>
            <a:rPr lang="en-US" sz="2000" i="0" kern="1200" dirty="0" smtClean="0"/>
            <a:t>)=</a:t>
          </a:r>
          <a:r>
            <a:rPr lang="uk-UA" sz="2000" i="0" kern="1200" dirty="0" smtClean="0"/>
            <a:t>0,065%</a:t>
          </a:r>
          <a:endParaRPr lang="uk-UA" sz="2000" i="0" kern="1200" dirty="0"/>
        </a:p>
      </dsp:txBody>
      <dsp:txXfrm>
        <a:off x="737270" y="1294193"/>
        <a:ext cx="1610981" cy="7910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A324B-E7CB-4FB3-B6F9-954D150FE78A}">
      <dsp:nvSpPr>
        <dsp:cNvPr id="0" name=""/>
        <dsp:cNvSpPr/>
      </dsp:nvSpPr>
      <dsp:spPr>
        <a:xfrm>
          <a:off x="4011139" y="1132120"/>
          <a:ext cx="953977" cy="12551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600" kern="1200" dirty="0" smtClean="0"/>
            <a:t>I</a:t>
          </a:r>
          <a:endParaRPr lang="uk-UA" sz="5600" kern="1200" dirty="0"/>
        </a:p>
      </dsp:txBody>
      <dsp:txXfrm>
        <a:off x="4150846" y="1315932"/>
        <a:ext cx="674563" cy="887524"/>
      </dsp:txXfrm>
    </dsp:sp>
    <dsp:sp modelId="{BD9AA21D-E2C2-4478-A712-ECBDFC37BFD5}">
      <dsp:nvSpPr>
        <dsp:cNvPr id="0" name=""/>
        <dsp:cNvSpPr/>
      </dsp:nvSpPr>
      <dsp:spPr>
        <a:xfrm rot="13130694">
          <a:off x="3447767" y="1198834"/>
          <a:ext cx="712292" cy="19708"/>
        </a:xfrm>
        <a:custGeom>
          <a:avLst/>
          <a:gdLst/>
          <a:ahLst/>
          <a:cxnLst/>
          <a:rect l="0" t="0" r="0" b="0"/>
          <a:pathLst>
            <a:path>
              <a:moveTo>
                <a:pt x="0" y="9854"/>
              </a:moveTo>
              <a:lnTo>
                <a:pt x="712292" y="9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786106" y="1190881"/>
        <a:ext cx="35614" cy="35614"/>
      </dsp:txXfrm>
    </dsp:sp>
    <dsp:sp modelId="{7123B129-BC16-4B7A-95FC-53B4505CC376}">
      <dsp:nvSpPr>
        <dsp:cNvPr id="0" name=""/>
        <dsp:cNvSpPr/>
      </dsp:nvSpPr>
      <dsp:spPr>
        <a:xfrm>
          <a:off x="1839906" y="-6"/>
          <a:ext cx="2239997" cy="10580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sz="2000" kern="1200" baseline="0" dirty="0" smtClean="0"/>
            <a:t> Ca(IO</a:t>
          </a:r>
          <a:r>
            <a:rPr lang="en-US" sz="2000" kern="1200" baseline="-25000" dirty="0" smtClean="0"/>
            <a:t>3</a:t>
          </a:r>
          <a:r>
            <a:rPr lang="en-US" sz="2000" kern="1200" baseline="0" dirty="0" smtClean="0"/>
            <a:t>)</a:t>
          </a:r>
          <a:r>
            <a:rPr lang="en-US" sz="2000" kern="1200" baseline="-25000" dirty="0" smtClean="0"/>
            <a:t>2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k-UA" sz="2000" kern="1200" baseline="0" dirty="0" smtClean="0"/>
            <a:t>у складі чилійської селітри</a:t>
          </a:r>
          <a:endParaRPr lang="uk-UA" sz="2000" kern="1200" baseline="0" dirty="0"/>
        </a:p>
      </dsp:txBody>
      <dsp:txXfrm>
        <a:off x="2167946" y="154936"/>
        <a:ext cx="1583917" cy="748125"/>
      </dsp:txXfrm>
    </dsp:sp>
    <dsp:sp modelId="{38C19231-2DC9-41A0-BA83-FCA15689AD36}">
      <dsp:nvSpPr>
        <dsp:cNvPr id="0" name=""/>
        <dsp:cNvSpPr/>
      </dsp:nvSpPr>
      <dsp:spPr>
        <a:xfrm rot="19716390">
          <a:off x="4834899" y="1179976"/>
          <a:ext cx="1174107" cy="19708"/>
        </a:xfrm>
        <a:custGeom>
          <a:avLst/>
          <a:gdLst/>
          <a:ahLst/>
          <a:cxnLst/>
          <a:rect l="0" t="0" r="0" b="0"/>
          <a:pathLst>
            <a:path>
              <a:moveTo>
                <a:pt x="0" y="9854"/>
              </a:moveTo>
              <a:lnTo>
                <a:pt x="1174107" y="9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392600" y="1160478"/>
        <a:ext cx="58705" cy="58705"/>
      </dsp:txXfrm>
    </dsp:sp>
    <dsp:sp modelId="{3AA883B5-673D-4F6A-BC3F-C63551190151}">
      <dsp:nvSpPr>
        <dsp:cNvPr id="0" name=""/>
        <dsp:cNvSpPr/>
      </dsp:nvSpPr>
      <dsp:spPr>
        <a:xfrm>
          <a:off x="5543182" y="32030"/>
          <a:ext cx="1988805" cy="953977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/>
            <a:t>У ламінаріях </a:t>
          </a:r>
          <a:r>
            <a:rPr lang="en-US" sz="2000" i="0" kern="1200" dirty="0" smtClean="0"/>
            <a:t>w(I</a:t>
          </a:r>
          <a:r>
            <a:rPr lang="en-US" sz="2000" i="0" kern="1200" baseline="30000" dirty="0" smtClean="0"/>
            <a:t>-</a:t>
          </a:r>
          <a:r>
            <a:rPr lang="en-US" sz="2000" i="0" kern="1200" dirty="0" smtClean="0"/>
            <a:t>)</a:t>
          </a:r>
          <a:r>
            <a:rPr lang="en-US" sz="2000" i="0" kern="1200" baseline="30000" dirty="0" smtClean="0"/>
            <a:t> </a:t>
          </a:r>
          <a:r>
            <a:rPr lang="en-US" sz="2000" i="0" kern="1200" dirty="0" smtClean="0"/>
            <a:t>=</a:t>
          </a:r>
          <a:r>
            <a:rPr lang="uk-UA" sz="2000" i="0" kern="1200" dirty="0" smtClean="0"/>
            <a:t>0,5% </a:t>
          </a:r>
          <a:endParaRPr lang="uk-UA" sz="2000" kern="1200" dirty="0"/>
        </a:p>
      </dsp:txBody>
      <dsp:txXfrm>
        <a:off x="5834436" y="171737"/>
        <a:ext cx="1406297" cy="674563"/>
      </dsp:txXfrm>
    </dsp:sp>
    <dsp:sp modelId="{25C66D19-468E-4F7E-BD8C-44D86A955893}">
      <dsp:nvSpPr>
        <dsp:cNvPr id="0" name=""/>
        <dsp:cNvSpPr/>
      </dsp:nvSpPr>
      <dsp:spPr>
        <a:xfrm rot="21237012">
          <a:off x="4959692" y="1625944"/>
          <a:ext cx="1394906" cy="19708"/>
        </a:xfrm>
        <a:custGeom>
          <a:avLst/>
          <a:gdLst/>
          <a:ahLst/>
          <a:cxnLst/>
          <a:rect l="0" t="0" r="0" b="0"/>
          <a:pathLst>
            <a:path>
              <a:moveTo>
                <a:pt x="0" y="9854"/>
              </a:moveTo>
              <a:lnTo>
                <a:pt x="1394906" y="9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622273" y="1600926"/>
        <a:ext cx="69745" cy="69745"/>
      </dsp:txXfrm>
    </dsp:sp>
    <dsp:sp modelId="{BCEBD3DF-A3CE-43C1-A0E7-3EDF65410C62}">
      <dsp:nvSpPr>
        <dsp:cNvPr id="0" name=""/>
        <dsp:cNvSpPr/>
      </dsp:nvSpPr>
      <dsp:spPr>
        <a:xfrm>
          <a:off x="6327933" y="920140"/>
          <a:ext cx="2118021" cy="1064658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k-UA" sz="2000" kern="1200" dirty="0" smtClean="0"/>
            <a:t>В організмі людини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sz="2000" i="0" kern="1200" dirty="0" smtClean="0"/>
            <a:t>w(I)</a:t>
          </a:r>
          <a:r>
            <a:rPr lang="uk-UA" sz="2000" i="0" kern="1200" dirty="0" smtClean="0"/>
            <a:t>=20-50 мг</a:t>
          </a:r>
          <a:endParaRPr lang="uk-UA" sz="2000" kern="1200" dirty="0" smtClean="0"/>
        </a:p>
      </dsp:txBody>
      <dsp:txXfrm>
        <a:off x="6638110" y="1076056"/>
        <a:ext cx="1497667" cy="752826"/>
      </dsp:txXfrm>
    </dsp:sp>
    <dsp:sp modelId="{8F166F6A-F56D-48A0-A41C-F831BE56C720}">
      <dsp:nvSpPr>
        <dsp:cNvPr id="0" name=""/>
        <dsp:cNvSpPr/>
      </dsp:nvSpPr>
      <dsp:spPr>
        <a:xfrm rot="1092240">
          <a:off x="4919535" y="2097675"/>
          <a:ext cx="1252578" cy="19708"/>
        </a:xfrm>
        <a:custGeom>
          <a:avLst/>
          <a:gdLst/>
          <a:ahLst/>
          <a:cxnLst/>
          <a:rect l="0" t="0" r="0" b="0"/>
          <a:pathLst>
            <a:path>
              <a:moveTo>
                <a:pt x="0" y="9854"/>
              </a:moveTo>
              <a:lnTo>
                <a:pt x="1252578" y="9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>
        <a:off x="5514510" y="2076215"/>
        <a:ext cx="62628" cy="62628"/>
      </dsp:txXfrm>
    </dsp:sp>
    <dsp:sp modelId="{802BA96D-2826-404A-AD93-6107496A697F}">
      <dsp:nvSpPr>
        <dsp:cNvPr id="0" name=""/>
        <dsp:cNvSpPr/>
      </dsp:nvSpPr>
      <dsp:spPr>
        <a:xfrm>
          <a:off x="5944359" y="2104746"/>
          <a:ext cx="2086865" cy="953977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baseline="0" dirty="0" smtClean="0"/>
            <a:t>У щитовидній залозі</a:t>
          </a:r>
          <a:endParaRPr lang="uk-UA" sz="2000" kern="1200" baseline="0" dirty="0"/>
        </a:p>
      </dsp:txBody>
      <dsp:txXfrm>
        <a:off x="6249973" y="2244453"/>
        <a:ext cx="1475637" cy="674563"/>
      </dsp:txXfrm>
    </dsp:sp>
    <dsp:sp modelId="{1C5EC774-5D0D-4366-B9BC-47C49D4AADEC}">
      <dsp:nvSpPr>
        <dsp:cNvPr id="0" name=""/>
        <dsp:cNvSpPr/>
      </dsp:nvSpPr>
      <dsp:spPr>
        <a:xfrm rot="9747486">
          <a:off x="3191576" y="2024932"/>
          <a:ext cx="852584" cy="19708"/>
        </a:xfrm>
        <a:custGeom>
          <a:avLst/>
          <a:gdLst/>
          <a:ahLst/>
          <a:cxnLst/>
          <a:rect l="0" t="0" r="0" b="0"/>
          <a:pathLst>
            <a:path>
              <a:moveTo>
                <a:pt x="0" y="9854"/>
              </a:moveTo>
              <a:lnTo>
                <a:pt x="852584" y="9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596553" y="2013471"/>
        <a:ext cx="42629" cy="42629"/>
      </dsp:txXfrm>
    </dsp:sp>
    <dsp:sp modelId="{9020EC0A-E19E-44E1-B97E-9F64F7AE5584}">
      <dsp:nvSpPr>
        <dsp:cNvPr id="0" name=""/>
        <dsp:cNvSpPr/>
      </dsp:nvSpPr>
      <dsp:spPr>
        <a:xfrm>
          <a:off x="1229725" y="1966475"/>
          <a:ext cx="2190562" cy="9539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/>
            <a:t>У водах озер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i="0" kern="1200" dirty="0" smtClean="0"/>
            <a:t>I</a:t>
          </a:r>
          <a:r>
            <a:rPr lang="en-US" sz="2400" i="0" kern="1200" baseline="30000" dirty="0" smtClean="0"/>
            <a:t>-</a:t>
          </a:r>
          <a:r>
            <a:rPr lang="uk-UA" sz="2400" kern="1200" dirty="0" smtClean="0"/>
            <a:t> </a:t>
          </a:r>
          <a:endParaRPr lang="uk-UA" sz="2400" kern="1200" dirty="0"/>
        </a:p>
      </dsp:txBody>
      <dsp:txXfrm>
        <a:off x="1550525" y="2106182"/>
        <a:ext cx="1548962" cy="674563"/>
      </dsp:txXfrm>
    </dsp:sp>
    <dsp:sp modelId="{7E513FAD-1A45-4BFC-9667-3E21776D7189}">
      <dsp:nvSpPr>
        <dsp:cNvPr id="0" name=""/>
        <dsp:cNvSpPr/>
      </dsp:nvSpPr>
      <dsp:spPr>
        <a:xfrm rot="11163276">
          <a:off x="2945182" y="1642955"/>
          <a:ext cx="1070484" cy="19708"/>
        </a:xfrm>
        <a:custGeom>
          <a:avLst/>
          <a:gdLst/>
          <a:ahLst/>
          <a:cxnLst/>
          <a:rect l="0" t="0" r="0" b="0"/>
          <a:pathLst>
            <a:path>
              <a:moveTo>
                <a:pt x="0" y="9854"/>
              </a:moveTo>
              <a:lnTo>
                <a:pt x="1070484" y="9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500" kern="1200"/>
        </a:p>
      </dsp:txBody>
      <dsp:txXfrm rot="10800000">
        <a:off x="3453662" y="1626047"/>
        <a:ext cx="53524" cy="53524"/>
      </dsp:txXfrm>
    </dsp:sp>
    <dsp:sp modelId="{AC1C33B6-F496-4FC4-8969-25188BA45EAB}">
      <dsp:nvSpPr>
        <dsp:cNvPr id="0" name=""/>
        <dsp:cNvSpPr/>
      </dsp:nvSpPr>
      <dsp:spPr>
        <a:xfrm>
          <a:off x="351755" y="955999"/>
          <a:ext cx="2644598" cy="10104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i="0" kern="1200" dirty="0" smtClean="0"/>
            <a:t>У морській воді</a:t>
          </a:r>
          <a:r>
            <a:rPr lang="en-US" sz="2000" i="0" kern="1200" dirty="0" smtClean="0"/>
            <a:t> w(I</a:t>
          </a:r>
          <a:r>
            <a:rPr lang="en-US" sz="2000" i="0" kern="1200" baseline="30000" dirty="0" smtClean="0"/>
            <a:t>-</a:t>
          </a:r>
          <a:r>
            <a:rPr lang="en-US" sz="2000" i="0" kern="1200" dirty="0" smtClean="0"/>
            <a:t>)</a:t>
          </a:r>
          <a:r>
            <a:rPr lang="en-US" sz="2000" i="0" kern="1200" baseline="30000" dirty="0" smtClean="0"/>
            <a:t> </a:t>
          </a:r>
          <a:r>
            <a:rPr lang="en-US" sz="2000" i="0" kern="1200" dirty="0" smtClean="0"/>
            <a:t>=</a:t>
          </a:r>
          <a:r>
            <a:rPr lang="uk-UA" sz="2000" i="0" kern="1200" dirty="0" smtClean="0"/>
            <a:t>0,06% </a:t>
          </a:r>
          <a:endParaRPr lang="uk-UA" sz="2000" i="0" kern="1200" dirty="0"/>
        </a:p>
      </dsp:txBody>
      <dsp:txXfrm>
        <a:off x="739047" y="1103972"/>
        <a:ext cx="1870014" cy="714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0845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0094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100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946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875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7"/>
            <a:ext cx="7886700" cy="99417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6"/>
            <a:ext cx="3887391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13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86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024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8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63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272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4"/>
            <a:ext cx="5800725" cy="435887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258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59" y="965441"/>
            <a:ext cx="7869890" cy="3667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12.03.2021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5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460" y="113992"/>
            <a:ext cx="7869890" cy="7490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3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0300" y="836202"/>
            <a:ext cx="7772400" cy="3168352"/>
          </a:xfrm>
        </p:spPr>
        <p:txBody>
          <a:bodyPr>
            <a:normAutofit/>
          </a:bodyPr>
          <a:lstStyle/>
          <a:p>
            <a:r>
              <a:rPr lang="uk-U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Хлор, Бром, </a:t>
            </a:r>
            <a:r>
              <a:rPr lang="uk-UA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І</a:t>
            </a:r>
            <a:r>
              <a:rPr lang="uk-UA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од</a:t>
            </a:r>
            <a:r>
              <a:rPr lang="uk-UA" dirty="0" smtClean="0"/>
              <a:t>: </a:t>
            </a:r>
            <a:br>
              <a:rPr lang="uk-UA" dirty="0" smtClean="0"/>
            </a:br>
            <a:r>
              <a:rPr lang="uk-UA" sz="5300" dirty="0" smtClean="0"/>
              <a:t>їх прості речовини </a:t>
            </a:r>
            <a:br>
              <a:rPr lang="uk-UA" sz="5300" dirty="0" smtClean="0"/>
            </a:br>
            <a:r>
              <a:rPr lang="uk-UA" sz="5300" dirty="0" smtClean="0"/>
              <a:t>та сполуки </a:t>
            </a:r>
            <a:br>
              <a:rPr lang="uk-UA" sz="5300" dirty="0" smtClean="0"/>
            </a:br>
            <a:r>
              <a:rPr lang="uk-UA" sz="5300" dirty="0" smtClean="0"/>
              <a:t>в ступені окиснення -1 </a:t>
            </a:r>
            <a:endParaRPr lang="uk-UA" sz="5300" dirty="0"/>
          </a:p>
        </p:txBody>
      </p:sp>
    </p:spTree>
    <p:extLst>
      <p:ext uri="{BB962C8B-B14F-4D97-AF65-F5344CB8AC3E}">
        <p14:creationId xmlns:p14="http://schemas.microsoft.com/office/powerpoint/2010/main" val="250686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 smtClean="0"/>
              <a:t>План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514350" algn="just">
              <a:buAutoNum type="arabicPeriod"/>
            </a:pPr>
            <a:r>
              <a:rPr lang="uk-UA" dirty="0" smtClean="0"/>
              <a:t>Характеристика елементів за положенням в Періодичній системі та за будовою атомів. Поширення в природі.</a:t>
            </a:r>
          </a:p>
          <a:p>
            <a:pPr marL="0" indent="-514350" algn="just">
              <a:buFont typeface="+mj-lt"/>
              <a:buAutoNum type="arabicPeriod"/>
            </a:pPr>
            <a:r>
              <a:rPr lang="uk-UA" dirty="0" smtClean="0"/>
              <a:t>Прості речовини – хлор, бром, йод та їх властивості.</a:t>
            </a:r>
          </a:p>
          <a:p>
            <a:pPr marL="0" indent="-514350" algn="just">
              <a:buFont typeface="+mj-lt"/>
              <a:buAutoNum type="arabicPeriod"/>
            </a:pPr>
            <a:r>
              <a:rPr lang="uk-UA" dirty="0" smtClean="0"/>
              <a:t>Сполуки Хлору, Брому, </a:t>
            </a:r>
            <a:r>
              <a:rPr lang="uk-UA" dirty="0"/>
              <a:t>Й</a:t>
            </a:r>
            <a:r>
              <a:rPr lang="uk-UA" dirty="0" smtClean="0"/>
              <a:t>оду в ступені окиснення -1.</a:t>
            </a:r>
          </a:p>
          <a:p>
            <a:pPr marL="0" indent="0">
              <a:buNone/>
            </a:pPr>
            <a:endParaRPr lang="uk-UA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1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2"/>
            <a:ext cx="4895528" cy="513038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33815"/>
            <a:ext cx="43063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9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27584" y="2193304"/>
            <a:ext cx="7488832" cy="5760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39" y="232074"/>
            <a:ext cx="7504113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39" y="3575185"/>
            <a:ext cx="7504113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68" y="2182886"/>
            <a:ext cx="669925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Блок-схема: узел 2"/>
          <p:cNvSpPr/>
          <p:nvPr/>
        </p:nvSpPr>
        <p:spPr>
          <a:xfrm>
            <a:off x="800139" y="252910"/>
            <a:ext cx="657272" cy="58578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68" y="3575185"/>
            <a:ext cx="669925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755576" y="188297"/>
            <a:ext cx="792088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b="1" baseline="-25000" dirty="0" smtClean="0">
                <a:solidFill>
                  <a:schemeClr val="bg1"/>
                </a:solidFill>
              </a:rPr>
              <a:t>17</a:t>
            </a:r>
            <a:r>
              <a:rPr lang="en-US" sz="4000" b="1" dirty="0" smtClean="0">
                <a:solidFill>
                  <a:schemeClr val="bg1"/>
                </a:solidFill>
              </a:rPr>
              <a:t>Cl </a:t>
            </a:r>
            <a:r>
              <a:rPr lang="ru-RU" sz="4000" b="1" dirty="0" smtClean="0"/>
              <a:t>Хлор</a:t>
            </a:r>
            <a:r>
              <a:rPr lang="ru-RU" sz="2800" b="1" dirty="0" smtClean="0"/>
              <a:t> </a:t>
            </a:r>
            <a:r>
              <a:rPr lang="ru-RU" sz="2800" dirty="0" smtClean="0"/>
              <a:t>(</a:t>
            </a:r>
            <a:r>
              <a:rPr lang="uk-UA" sz="2800" i="1" dirty="0" smtClean="0"/>
              <a:t>від </a:t>
            </a:r>
            <a:r>
              <a:rPr lang="uk-UA" sz="2800" i="1" dirty="0" err="1" smtClean="0"/>
              <a:t>грец</a:t>
            </a:r>
            <a:r>
              <a:rPr lang="uk-UA" sz="2800" i="1" dirty="0" smtClean="0"/>
              <a:t>. «</a:t>
            </a:r>
            <a:r>
              <a:rPr lang="uk-UA" sz="2800" i="1" dirty="0" err="1" smtClean="0"/>
              <a:t>хлорос</a:t>
            </a:r>
            <a:r>
              <a:rPr lang="uk-UA" sz="2800" i="1" dirty="0" smtClean="0"/>
              <a:t>» - </a:t>
            </a:r>
            <a:r>
              <a:rPr lang="uk-UA" sz="2800" i="1" dirty="0" smtClean="0"/>
              <a:t>жовто-зелений</a:t>
            </a:r>
            <a:r>
              <a:rPr lang="uk-UA" sz="3200" dirty="0" smtClean="0"/>
              <a:t>)</a:t>
            </a:r>
            <a:endParaRPr lang="uk-UA" sz="3200" dirty="0" smtClean="0"/>
          </a:p>
          <a:p>
            <a:r>
              <a:rPr lang="uk-UA" sz="2800" dirty="0" smtClean="0"/>
              <a:t>    1774р. </a:t>
            </a:r>
            <a:r>
              <a:rPr lang="uk-UA" sz="2800" dirty="0"/>
              <a:t>ш</a:t>
            </a:r>
            <a:r>
              <a:rPr lang="uk-UA" sz="2800" dirty="0" smtClean="0"/>
              <a:t>вед. </a:t>
            </a:r>
            <a:r>
              <a:rPr lang="uk-UA" sz="2800" dirty="0" smtClean="0"/>
              <a:t>хімік </a:t>
            </a:r>
            <a:r>
              <a:rPr lang="uk-UA" sz="2800" dirty="0" smtClean="0"/>
              <a:t>Карл Вільгельм </a:t>
            </a:r>
            <a:r>
              <a:rPr lang="uk-UA" sz="2800" dirty="0" err="1" smtClean="0"/>
              <a:t>Шеєле</a:t>
            </a:r>
            <a:endParaRPr lang="uk-UA" sz="2800" dirty="0" smtClean="0"/>
          </a:p>
          <a:p>
            <a:r>
              <a:rPr lang="ru-RU" sz="2800" dirty="0" smtClean="0"/>
              <a:t>    </a:t>
            </a:r>
            <a:r>
              <a:rPr lang="en-US" sz="2800" dirty="0" smtClean="0"/>
              <a:t>1810</a:t>
            </a:r>
            <a:r>
              <a:rPr lang="uk-UA" sz="2800" dirty="0" smtClean="0"/>
              <a:t>р. </a:t>
            </a:r>
            <a:r>
              <a:rPr lang="uk-UA" sz="2800" dirty="0" err="1"/>
              <a:t>б</a:t>
            </a:r>
            <a:r>
              <a:rPr lang="uk-UA" sz="2800" dirty="0" err="1" smtClean="0"/>
              <a:t>рит</a:t>
            </a:r>
            <a:r>
              <a:rPr lang="uk-UA" sz="2800" dirty="0" smtClean="0"/>
              <a:t>. фізик і хімік </a:t>
            </a:r>
            <a:r>
              <a:rPr lang="uk-UA" sz="2800" dirty="0" err="1" smtClean="0"/>
              <a:t>Гамфрі</a:t>
            </a:r>
            <a:r>
              <a:rPr lang="uk-UA" sz="2800" dirty="0" smtClean="0"/>
              <a:t> Генрі</a:t>
            </a:r>
          </a:p>
          <a:p>
            <a:endParaRPr lang="uk-UA" sz="2800" dirty="0" smtClean="0"/>
          </a:p>
          <a:p>
            <a:r>
              <a:rPr lang="uk-UA" sz="1600" b="1" baseline="-25000" dirty="0" smtClean="0">
                <a:solidFill>
                  <a:schemeClr val="bg1"/>
                </a:solidFill>
              </a:rPr>
              <a:t>35</a:t>
            </a:r>
            <a:r>
              <a:rPr lang="en-US" sz="4000" b="1" dirty="0" smtClean="0">
                <a:solidFill>
                  <a:schemeClr val="bg1"/>
                </a:solidFill>
              </a:rPr>
              <a:t>Br</a:t>
            </a:r>
            <a:r>
              <a:rPr lang="uk-UA" sz="4000" b="1" dirty="0" smtClean="0">
                <a:solidFill>
                  <a:schemeClr val="bg1"/>
                </a:solidFill>
              </a:rPr>
              <a:t> </a:t>
            </a:r>
            <a:r>
              <a:rPr lang="uk-UA" sz="4000" b="1" dirty="0" smtClean="0"/>
              <a:t>Бром</a:t>
            </a:r>
            <a:r>
              <a:rPr lang="uk-UA" sz="3200" b="1" dirty="0" smtClean="0"/>
              <a:t> </a:t>
            </a:r>
            <a:r>
              <a:rPr lang="uk-UA" sz="2800" dirty="0" smtClean="0"/>
              <a:t>(</a:t>
            </a:r>
            <a:r>
              <a:rPr lang="uk-UA" sz="3200" i="1" dirty="0" smtClean="0"/>
              <a:t>від </a:t>
            </a:r>
            <a:r>
              <a:rPr lang="uk-UA" sz="3200" i="1" dirty="0" err="1" smtClean="0"/>
              <a:t>грец</a:t>
            </a:r>
            <a:r>
              <a:rPr lang="uk-UA" sz="3200" i="1" dirty="0" smtClean="0"/>
              <a:t>. «</a:t>
            </a:r>
            <a:r>
              <a:rPr lang="uk-UA" sz="3200" i="1" dirty="0" err="1" smtClean="0"/>
              <a:t>бромос</a:t>
            </a:r>
            <a:r>
              <a:rPr lang="uk-UA" sz="3200" i="1" dirty="0" smtClean="0"/>
              <a:t>» - </a:t>
            </a:r>
            <a:r>
              <a:rPr lang="uk-UA" sz="3200" i="1" dirty="0" smtClean="0"/>
              <a:t>сморід</a:t>
            </a:r>
            <a:r>
              <a:rPr lang="uk-UA" sz="3200" dirty="0" smtClean="0"/>
              <a:t>)</a:t>
            </a:r>
            <a:endParaRPr lang="uk-UA" sz="3200" dirty="0" smtClean="0"/>
          </a:p>
          <a:p>
            <a:r>
              <a:rPr lang="uk-UA" sz="2800" dirty="0" smtClean="0"/>
              <a:t>     1826р. </a:t>
            </a:r>
            <a:r>
              <a:rPr lang="uk-UA" sz="2800" dirty="0"/>
              <a:t>ф</a:t>
            </a:r>
            <a:r>
              <a:rPr lang="uk-UA" sz="2800" dirty="0" smtClean="0"/>
              <a:t>р. хімік Антуан </a:t>
            </a:r>
            <a:r>
              <a:rPr lang="uk-UA" sz="2800" dirty="0" err="1" smtClean="0"/>
              <a:t>Жером</a:t>
            </a:r>
            <a:r>
              <a:rPr lang="uk-UA" sz="2800" dirty="0" smtClean="0"/>
              <a:t> </a:t>
            </a:r>
            <a:r>
              <a:rPr lang="uk-UA" sz="2800" dirty="0" err="1" smtClean="0"/>
              <a:t>Балар</a:t>
            </a:r>
            <a:r>
              <a:rPr lang="uk-UA" sz="2800" dirty="0" smtClean="0"/>
              <a:t> 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endParaRPr lang="en-US" sz="2800" dirty="0" smtClean="0"/>
          </a:p>
          <a:p>
            <a:r>
              <a:rPr lang="uk-UA" sz="1600" b="1" baseline="-25000" dirty="0" smtClean="0">
                <a:solidFill>
                  <a:schemeClr val="bg1"/>
                </a:solidFill>
              </a:rPr>
              <a:t>    53</a:t>
            </a:r>
            <a:r>
              <a:rPr lang="en-US" sz="4000" b="1" dirty="0" smtClean="0">
                <a:solidFill>
                  <a:schemeClr val="bg1"/>
                </a:solidFill>
              </a:rPr>
              <a:t>I</a:t>
            </a:r>
            <a:r>
              <a:rPr lang="uk-UA" sz="4000" b="1" dirty="0" smtClean="0">
                <a:solidFill>
                  <a:schemeClr val="bg1"/>
                </a:solidFill>
              </a:rPr>
              <a:t>   </a:t>
            </a:r>
            <a:r>
              <a:rPr lang="uk-UA" sz="4000" b="1" dirty="0" err="1" smtClean="0"/>
              <a:t>Іод</a:t>
            </a:r>
            <a:r>
              <a:rPr lang="uk-UA" sz="4000" b="1" dirty="0" smtClean="0">
                <a:solidFill>
                  <a:schemeClr val="bg1"/>
                </a:solidFill>
              </a:rPr>
              <a:t> </a:t>
            </a:r>
            <a:r>
              <a:rPr lang="uk-UA" sz="3200" dirty="0" smtClean="0"/>
              <a:t>(</a:t>
            </a:r>
            <a:r>
              <a:rPr lang="uk-UA" sz="3200" i="1" dirty="0" smtClean="0"/>
              <a:t>від </a:t>
            </a:r>
            <a:r>
              <a:rPr lang="uk-UA" sz="3200" i="1" dirty="0" err="1" smtClean="0"/>
              <a:t>грец</a:t>
            </a:r>
            <a:r>
              <a:rPr lang="uk-UA" sz="3200" i="1" dirty="0" smtClean="0"/>
              <a:t>. «</a:t>
            </a:r>
            <a:r>
              <a:rPr lang="uk-UA" sz="3200" i="1" dirty="0" err="1" smtClean="0"/>
              <a:t>йодес</a:t>
            </a:r>
            <a:r>
              <a:rPr lang="uk-UA" sz="3200" i="1" dirty="0" smtClean="0"/>
              <a:t>» - фіолетовий</a:t>
            </a:r>
          </a:p>
          <a:p>
            <a:r>
              <a:rPr lang="uk-UA" sz="2800" dirty="0" smtClean="0"/>
              <a:t>     1811р. </a:t>
            </a:r>
            <a:r>
              <a:rPr lang="uk-UA" sz="2800" dirty="0"/>
              <a:t>ф</a:t>
            </a:r>
            <a:r>
              <a:rPr lang="uk-UA" sz="2800" dirty="0" smtClean="0"/>
              <a:t>р. хімік </a:t>
            </a:r>
            <a:r>
              <a:rPr lang="uk-UA" sz="2800" dirty="0" err="1" smtClean="0"/>
              <a:t>Бернар</a:t>
            </a:r>
            <a:r>
              <a:rPr lang="uk-UA" sz="2800" dirty="0" smtClean="0"/>
              <a:t> </a:t>
            </a:r>
            <a:r>
              <a:rPr lang="uk-UA" sz="2800" dirty="0" err="1" smtClean="0"/>
              <a:t>Куртуа</a:t>
            </a:r>
            <a:endParaRPr lang="uk-UA" sz="2800" dirty="0" smtClean="0"/>
          </a:p>
          <a:p>
            <a:r>
              <a:rPr lang="uk-UA" sz="2800" dirty="0" smtClean="0"/>
              <a:t>     </a:t>
            </a:r>
            <a:endParaRPr lang="uk-UA" sz="2800" dirty="0"/>
          </a:p>
        </p:txBody>
      </p:sp>
    </p:spTree>
    <p:extLst>
      <p:ext uri="{BB962C8B-B14F-4D97-AF65-F5344CB8AC3E}">
        <p14:creationId xmlns:p14="http://schemas.microsoft.com/office/powerpoint/2010/main" val="136171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26541" y="352276"/>
            <a:ext cx="2055947" cy="3354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VII</a:t>
            </a:r>
            <a:r>
              <a:rPr lang="uk-UA" sz="3200" b="1" dirty="0" smtClean="0"/>
              <a:t> А група</a:t>
            </a:r>
            <a:endParaRPr lang="en-US" sz="3200" b="1" dirty="0" smtClean="0"/>
          </a:p>
          <a:p>
            <a:endParaRPr lang="en-US" sz="3200" dirty="0"/>
          </a:p>
          <a:p>
            <a:r>
              <a:rPr lang="ru-RU" sz="2800" dirty="0" smtClean="0"/>
              <a:t>3</a:t>
            </a:r>
            <a:r>
              <a:rPr lang="uk-UA" sz="2800" dirty="0"/>
              <a:t> </a:t>
            </a:r>
            <a:r>
              <a:rPr lang="uk-UA" sz="2800" dirty="0" smtClean="0"/>
              <a:t>період</a:t>
            </a:r>
          </a:p>
          <a:p>
            <a:endParaRPr lang="uk-UA" sz="3200" dirty="0" smtClean="0"/>
          </a:p>
          <a:p>
            <a:r>
              <a:rPr lang="uk-UA" sz="2800" dirty="0" smtClean="0"/>
              <a:t>4 період</a:t>
            </a:r>
          </a:p>
          <a:p>
            <a:endParaRPr lang="uk-UA" sz="3200" dirty="0" smtClean="0"/>
          </a:p>
          <a:p>
            <a:r>
              <a:rPr lang="uk-UA" sz="2800" dirty="0" smtClean="0"/>
              <a:t>5 період</a:t>
            </a:r>
            <a:endParaRPr lang="uk-UA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796591" y="1275606"/>
            <a:ext cx="108012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b="1" baseline="-25000" dirty="0" smtClean="0"/>
              <a:t>17</a:t>
            </a:r>
            <a:r>
              <a:rPr lang="en-US" sz="4000" b="1" dirty="0" smtClean="0"/>
              <a:t>Cl</a:t>
            </a:r>
          </a:p>
          <a:p>
            <a:endParaRPr lang="uk-UA" sz="1600" b="1" dirty="0" smtClean="0"/>
          </a:p>
          <a:p>
            <a:r>
              <a:rPr lang="uk-UA" sz="2800" b="1" baseline="-25000" dirty="0" smtClean="0"/>
              <a:t>35</a:t>
            </a:r>
            <a:r>
              <a:rPr lang="en-US" sz="4000" b="1" dirty="0" smtClean="0"/>
              <a:t>Br </a:t>
            </a:r>
          </a:p>
          <a:p>
            <a:endParaRPr lang="uk-UA" sz="1600" b="1" dirty="0" smtClean="0"/>
          </a:p>
          <a:p>
            <a:r>
              <a:rPr lang="uk-UA" sz="2800" b="1" baseline="-25000" dirty="0" smtClean="0"/>
              <a:t>53 </a:t>
            </a:r>
            <a:r>
              <a:rPr lang="en-US" sz="4000" b="1" dirty="0" smtClean="0"/>
              <a:t>I</a:t>
            </a:r>
            <a:endParaRPr lang="en-US" sz="4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24442" y="123478"/>
            <a:ext cx="2683748" cy="3867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Будова атома</a:t>
            </a:r>
          </a:p>
          <a:p>
            <a:pPr algn="ctr"/>
            <a:r>
              <a:rPr lang="en-US" sz="3200" b="1" dirty="0" smtClean="0"/>
              <a:t>ns</a:t>
            </a:r>
            <a:r>
              <a:rPr lang="en-US" sz="3200" b="1" baseline="30000" dirty="0" smtClean="0"/>
              <a:t>2</a:t>
            </a:r>
            <a:r>
              <a:rPr lang="en-US" sz="3200" b="1" dirty="0" smtClean="0"/>
              <a:t>np</a:t>
            </a:r>
            <a:r>
              <a:rPr lang="en-US" sz="3200" b="1" baseline="30000" dirty="0" smtClean="0"/>
              <a:t>5</a:t>
            </a:r>
            <a:r>
              <a:rPr lang="en-US" sz="3200" b="1" dirty="0" smtClean="0"/>
              <a:t>nd</a:t>
            </a:r>
            <a:r>
              <a:rPr lang="en-US" sz="3200" b="1" baseline="30000" dirty="0" smtClean="0"/>
              <a:t>0</a:t>
            </a:r>
          </a:p>
          <a:p>
            <a:pPr algn="ctr"/>
            <a:endParaRPr lang="en-US" sz="3200" baseline="30000" dirty="0" smtClean="0"/>
          </a:p>
          <a:p>
            <a:pPr lvl="0" algn="ctr"/>
            <a:r>
              <a:rPr lang="en-US" sz="3200" dirty="0" smtClean="0">
                <a:solidFill>
                  <a:prstClr val="black"/>
                </a:solidFill>
              </a:rPr>
              <a:t>[Ne] </a:t>
            </a:r>
            <a:r>
              <a:rPr lang="uk-UA" sz="3200" dirty="0" smtClean="0">
                <a:solidFill>
                  <a:prstClr val="black"/>
                </a:solidFill>
              </a:rPr>
              <a:t>3</a:t>
            </a:r>
            <a:r>
              <a:rPr lang="en-US" sz="3200" dirty="0" smtClean="0">
                <a:solidFill>
                  <a:prstClr val="black"/>
                </a:solidFill>
              </a:rPr>
              <a:t>s</a:t>
            </a:r>
            <a:r>
              <a:rPr lang="en-US" sz="3200" baseline="30000" dirty="0" smtClean="0">
                <a:solidFill>
                  <a:prstClr val="black"/>
                </a:solidFill>
              </a:rPr>
              <a:t>2</a:t>
            </a:r>
            <a:r>
              <a:rPr lang="uk-UA" sz="3200" dirty="0">
                <a:solidFill>
                  <a:prstClr val="black"/>
                </a:solidFill>
              </a:rPr>
              <a:t>3</a:t>
            </a:r>
            <a:r>
              <a:rPr lang="en-US" sz="3200" dirty="0" smtClean="0">
                <a:solidFill>
                  <a:prstClr val="black"/>
                </a:solidFill>
              </a:rPr>
              <a:t>p</a:t>
            </a:r>
            <a:r>
              <a:rPr lang="en-US" sz="3200" baseline="30000" dirty="0" smtClean="0">
                <a:solidFill>
                  <a:prstClr val="black"/>
                </a:solidFill>
              </a:rPr>
              <a:t>5</a:t>
            </a:r>
            <a:r>
              <a:rPr lang="uk-UA" sz="3200" dirty="0">
                <a:solidFill>
                  <a:prstClr val="black"/>
                </a:solidFill>
              </a:rPr>
              <a:t>3</a:t>
            </a:r>
            <a:r>
              <a:rPr lang="en-US" sz="3200" dirty="0" smtClean="0">
                <a:solidFill>
                  <a:prstClr val="black"/>
                </a:solidFill>
              </a:rPr>
              <a:t>d</a:t>
            </a:r>
            <a:r>
              <a:rPr lang="en-US" sz="3200" baseline="30000" dirty="0" smtClean="0">
                <a:solidFill>
                  <a:prstClr val="black"/>
                </a:solidFill>
              </a:rPr>
              <a:t>0</a:t>
            </a:r>
          </a:p>
          <a:p>
            <a:pPr lvl="0" algn="ctr"/>
            <a:endParaRPr lang="uk-UA" sz="3200" baseline="30000" dirty="0">
              <a:solidFill>
                <a:prstClr val="black"/>
              </a:solidFill>
            </a:endParaRPr>
          </a:p>
          <a:p>
            <a:pPr lvl="0" algn="ctr"/>
            <a:r>
              <a:rPr lang="en-US" sz="3200" dirty="0" smtClean="0">
                <a:solidFill>
                  <a:prstClr val="black"/>
                </a:solidFill>
              </a:rPr>
              <a:t>[</a:t>
            </a:r>
            <a:r>
              <a:rPr lang="en-US" sz="3200" dirty="0" err="1" smtClean="0">
                <a:solidFill>
                  <a:prstClr val="black"/>
                </a:solidFill>
              </a:rPr>
              <a:t>Ar</a:t>
            </a:r>
            <a:r>
              <a:rPr lang="en-US" sz="3200" dirty="0" smtClean="0">
                <a:solidFill>
                  <a:prstClr val="black"/>
                </a:solidFill>
              </a:rPr>
              <a:t>] </a:t>
            </a:r>
            <a:r>
              <a:rPr lang="uk-UA" sz="3200" dirty="0" smtClean="0">
                <a:solidFill>
                  <a:prstClr val="black"/>
                </a:solidFill>
              </a:rPr>
              <a:t>4</a:t>
            </a:r>
            <a:r>
              <a:rPr lang="en-US" sz="3200" dirty="0" smtClean="0">
                <a:solidFill>
                  <a:prstClr val="black"/>
                </a:solidFill>
              </a:rPr>
              <a:t>s</a:t>
            </a:r>
            <a:r>
              <a:rPr lang="en-US" sz="3200" baseline="30000" dirty="0" smtClean="0">
                <a:solidFill>
                  <a:prstClr val="black"/>
                </a:solidFill>
              </a:rPr>
              <a:t>2</a:t>
            </a:r>
            <a:r>
              <a:rPr lang="uk-UA" sz="3200" dirty="0">
                <a:solidFill>
                  <a:prstClr val="black"/>
                </a:solidFill>
              </a:rPr>
              <a:t>4</a:t>
            </a:r>
            <a:r>
              <a:rPr lang="en-US" sz="3200" dirty="0" smtClean="0">
                <a:solidFill>
                  <a:prstClr val="black"/>
                </a:solidFill>
              </a:rPr>
              <a:t>p</a:t>
            </a:r>
            <a:r>
              <a:rPr lang="en-US" sz="3200" baseline="30000" dirty="0" smtClean="0">
                <a:solidFill>
                  <a:prstClr val="black"/>
                </a:solidFill>
              </a:rPr>
              <a:t>5</a:t>
            </a:r>
            <a:r>
              <a:rPr lang="uk-UA" sz="3200" dirty="0">
                <a:solidFill>
                  <a:prstClr val="black"/>
                </a:solidFill>
              </a:rPr>
              <a:t>4</a:t>
            </a:r>
            <a:r>
              <a:rPr lang="en-US" sz="3200" dirty="0" smtClean="0">
                <a:solidFill>
                  <a:prstClr val="black"/>
                </a:solidFill>
              </a:rPr>
              <a:t>d</a:t>
            </a:r>
            <a:r>
              <a:rPr lang="en-US" sz="3200" baseline="30000" dirty="0" smtClean="0">
                <a:solidFill>
                  <a:prstClr val="black"/>
                </a:solidFill>
              </a:rPr>
              <a:t>0</a:t>
            </a:r>
          </a:p>
          <a:p>
            <a:pPr lvl="0" algn="ctr"/>
            <a:endParaRPr lang="uk-UA" sz="3200" baseline="30000" dirty="0">
              <a:solidFill>
                <a:prstClr val="black"/>
              </a:solidFill>
            </a:endParaRPr>
          </a:p>
          <a:p>
            <a:pPr lvl="0" algn="ctr"/>
            <a:r>
              <a:rPr lang="en-US" sz="3200" dirty="0" smtClean="0">
                <a:solidFill>
                  <a:prstClr val="black"/>
                </a:solidFill>
              </a:rPr>
              <a:t>[Kr] </a:t>
            </a:r>
            <a:r>
              <a:rPr lang="uk-UA" sz="3200" dirty="0" smtClean="0">
                <a:solidFill>
                  <a:prstClr val="black"/>
                </a:solidFill>
              </a:rPr>
              <a:t>5</a:t>
            </a:r>
            <a:r>
              <a:rPr lang="en-US" sz="3200" dirty="0" smtClean="0">
                <a:solidFill>
                  <a:prstClr val="black"/>
                </a:solidFill>
              </a:rPr>
              <a:t>s</a:t>
            </a:r>
            <a:r>
              <a:rPr lang="en-US" sz="3200" baseline="30000" dirty="0" smtClean="0">
                <a:solidFill>
                  <a:prstClr val="black"/>
                </a:solidFill>
              </a:rPr>
              <a:t>2</a:t>
            </a:r>
            <a:r>
              <a:rPr lang="uk-UA" sz="3200" dirty="0">
                <a:solidFill>
                  <a:prstClr val="black"/>
                </a:solidFill>
              </a:rPr>
              <a:t>5</a:t>
            </a:r>
            <a:r>
              <a:rPr lang="en-US" sz="3200" dirty="0" smtClean="0">
                <a:solidFill>
                  <a:prstClr val="black"/>
                </a:solidFill>
              </a:rPr>
              <a:t>p</a:t>
            </a:r>
            <a:r>
              <a:rPr lang="en-US" sz="3200" baseline="30000" dirty="0" smtClean="0">
                <a:solidFill>
                  <a:prstClr val="black"/>
                </a:solidFill>
              </a:rPr>
              <a:t>5</a:t>
            </a:r>
            <a:r>
              <a:rPr lang="uk-UA" sz="3200" dirty="0">
                <a:solidFill>
                  <a:prstClr val="black"/>
                </a:solidFill>
              </a:rPr>
              <a:t>5</a:t>
            </a:r>
            <a:r>
              <a:rPr lang="en-US" sz="3200" dirty="0" smtClean="0">
                <a:solidFill>
                  <a:prstClr val="black"/>
                </a:solidFill>
              </a:rPr>
              <a:t>d</a:t>
            </a:r>
            <a:r>
              <a:rPr lang="en-US" sz="3200" baseline="30000" dirty="0" smtClean="0">
                <a:solidFill>
                  <a:prstClr val="black"/>
                </a:solidFill>
              </a:rPr>
              <a:t>0</a:t>
            </a:r>
            <a:endParaRPr lang="uk-UA" sz="3200" baseline="30000" dirty="0">
              <a:solidFill>
                <a:prstClr val="black"/>
              </a:solidFill>
            </a:endParaRPr>
          </a:p>
          <a:p>
            <a:pPr algn="ctr"/>
            <a:endParaRPr lang="uk-UA" sz="3200" baseline="30000" dirty="0" smtClean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2574556" y="1635646"/>
            <a:ext cx="12220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2" idx="1"/>
          </p:cNvCxnSpPr>
          <p:nvPr/>
        </p:nvCxnSpPr>
        <p:spPr>
          <a:xfrm flipH="1" flipV="1">
            <a:off x="2574556" y="2491323"/>
            <a:ext cx="1222035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2574556" y="3435846"/>
            <a:ext cx="12220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4644008" y="1635646"/>
            <a:ext cx="138043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4716016" y="2491323"/>
            <a:ext cx="1308426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4499992" y="3435846"/>
            <a:ext cx="15244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93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0841"/>
            <a:ext cx="7869890" cy="678701"/>
          </a:xfrm>
        </p:spPr>
        <p:txBody>
          <a:bodyPr/>
          <a:lstStyle/>
          <a:p>
            <a:pPr algn="ctr"/>
            <a:r>
              <a:rPr lang="uk-UA" dirty="0" smtClean="0"/>
              <a:t>Властивості елементів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11560" y="1131590"/>
            <a:ext cx="370841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>
              <a:buFontTx/>
              <a:buAutoNum type="arabicParenR"/>
            </a:pPr>
            <a:r>
              <a:rPr lang="uk-UA" sz="2400" dirty="0"/>
              <a:t>не вистачає 1 електрона до завершення восьми-електронного октету</a:t>
            </a:r>
            <a:r>
              <a:rPr lang="uk-UA" sz="2400" dirty="0" smtClean="0"/>
              <a:t>;</a:t>
            </a:r>
          </a:p>
          <a:p>
            <a:pPr indent="-342900" algn="just">
              <a:buAutoNum type="arabicParenR"/>
            </a:pPr>
            <a:r>
              <a:rPr lang="uk-UA" sz="2400" dirty="0" smtClean="0"/>
              <a:t>7 електронів на зовнішньому електронному шарі;</a:t>
            </a:r>
          </a:p>
          <a:p>
            <a:pPr indent="-342900" algn="just">
              <a:buAutoNum type="arabicParenR"/>
            </a:pPr>
            <a:r>
              <a:rPr lang="uk-UA" sz="2400" dirty="0" smtClean="0"/>
              <a:t>наявність вільних електронних d-орбіталей</a:t>
            </a:r>
            <a:r>
              <a:rPr lang="uk-UA" dirty="0" smtClean="0"/>
              <a:t/>
            </a:r>
            <a:br>
              <a:rPr lang="uk-UA" dirty="0" smtClean="0"/>
            </a:br>
            <a:endParaRPr lang="uk-UA" dirty="0"/>
          </a:p>
        </p:txBody>
      </p:sp>
      <p:sp>
        <p:nvSpPr>
          <p:cNvPr id="4" name="Правая круглая скобка 3"/>
          <p:cNvSpPr/>
          <p:nvPr/>
        </p:nvSpPr>
        <p:spPr>
          <a:xfrm>
            <a:off x="4139952" y="1131590"/>
            <a:ext cx="360040" cy="3096344"/>
          </a:xfrm>
          <a:prstGeom prst="rightBracket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Штриховая стрелка вправо 4"/>
          <p:cNvSpPr/>
          <p:nvPr/>
        </p:nvSpPr>
        <p:spPr>
          <a:xfrm>
            <a:off x="4564089" y="2465479"/>
            <a:ext cx="720080" cy="428565"/>
          </a:xfrm>
          <a:prstGeom prst="striped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угольник 7"/>
          <p:cNvSpPr/>
          <p:nvPr/>
        </p:nvSpPr>
        <p:spPr>
          <a:xfrm>
            <a:off x="5449687" y="1710265"/>
            <a:ext cx="3442793" cy="19389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угольник 5"/>
          <p:cNvSpPr/>
          <p:nvPr/>
        </p:nvSpPr>
        <p:spPr>
          <a:xfrm>
            <a:off x="5449687" y="1710266"/>
            <a:ext cx="35661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uk-UA" sz="2400" dirty="0" smtClean="0"/>
              <a:t>неметалеві елементи;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400" dirty="0" smtClean="0"/>
              <a:t>родина </a:t>
            </a:r>
            <a:r>
              <a:rPr lang="uk-UA" sz="2400" i="1" dirty="0" err="1" smtClean="0"/>
              <a:t>р</a:t>
            </a:r>
            <a:r>
              <a:rPr lang="uk-UA" sz="2400" dirty="0" err="1" smtClean="0"/>
              <a:t>-елементів</a:t>
            </a:r>
            <a:r>
              <a:rPr lang="uk-UA" sz="2400" dirty="0" smtClean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400" dirty="0" err="1" smtClean="0"/>
              <a:t>В</a:t>
            </a:r>
            <a:r>
              <a:rPr lang="uk-UA" sz="2400" baseline="-25000" dirty="0" err="1" smtClean="0"/>
              <a:t>max</a:t>
            </a:r>
            <a:r>
              <a:rPr lang="uk-UA" sz="2400" dirty="0" smtClean="0"/>
              <a:t> VII;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400" dirty="0" err="1" smtClean="0"/>
              <a:t>B</a:t>
            </a:r>
            <a:r>
              <a:rPr lang="uk-UA" sz="2400" baseline="-25000" dirty="0" err="1" smtClean="0"/>
              <a:t>min</a:t>
            </a:r>
            <a:r>
              <a:rPr lang="uk-UA" sz="2400" dirty="0" smtClean="0"/>
              <a:t>  I;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400" dirty="0" smtClean="0"/>
              <a:t>ст. </a:t>
            </a:r>
            <a:r>
              <a:rPr lang="uk-UA" sz="2400" dirty="0" err="1" smtClean="0"/>
              <a:t>ок</a:t>
            </a:r>
            <a:r>
              <a:rPr lang="uk-UA" sz="2400" dirty="0" smtClean="0"/>
              <a:t>.: -1…..+7</a:t>
            </a:r>
            <a:endParaRPr lang="uk-UA" sz="2400" dirty="0"/>
          </a:p>
        </p:txBody>
      </p:sp>
      <p:sp>
        <p:nvSpPr>
          <p:cNvPr id="7" name="Левая круглая скобка 6"/>
          <p:cNvSpPr/>
          <p:nvPr/>
        </p:nvSpPr>
        <p:spPr>
          <a:xfrm>
            <a:off x="5449687" y="1710265"/>
            <a:ext cx="202433" cy="1938992"/>
          </a:xfrm>
          <a:prstGeom prst="leftBracket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004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35696" y="1124761"/>
            <a:ext cx="2466701" cy="38164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smtClean="0"/>
              <a:t>r</a:t>
            </a:r>
            <a:r>
              <a:rPr lang="uk-UA" sz="2800" i="1" dirty="0" smtClean="0"/>
              <a:t> </a:t>
            </a:r>
            <a:r>
              <a:rPr lang="uk-UA" sz="2800" i="1" baseline="-25000" dirty="0" smtClean="0"/>
              <a:t>атома</a:t>
            </a:r>
            <a:r>
              <a:rPr lang="uk-UA" sz="2800" i="1" dirty="0" smtClean="0"/>
              <a:t> </a:t>
            </a:r>
            <a:r>
              <a:rPr lang="uk-UA" sz="2800" dirty="0">
                <a:sym typeface="Symbol"/>
              </a:rPr>
              <a:t> </a:t>
            </a:r>
            <a:r>
              <a:rPr lang="uk-UA" sz="2800" i="1" dirty="0" smtClean="0">
                <a:sym typeface="Symbol"/>
              </a:rPr>
              <a:t></a:t>
            </a:r>
            <a:r>
              <a:rPr lang="uk-UA" sz="2800" i="1" dirty="0">
                <a:sym typeface="Symbol"/>
              </a:rPr>
              <a:t>ЕН </a:t>
            </a:r>
            <a:r>
              <a:rPr lang="uk-UA" sz="2800" dirty="0" smtClean="0">
                <a:sym typeface="Symbol"/>
              </a:rPr>
              <a:t></a:t>
            </a:r>
            <a:endParaRPr lang="uk-UA" sz="2800" i="1" dirty="0" smtClean="0">
              <a:sym typeface="Symbol"/>
            </a:endParaRPr>
          </a:p>
          <a:p>
            <a:endParaRPr lang="uk-UA" sz="2800" i="1" dirty="0" smtClean="0">
              <a:sym typeface="Symbol"/>
            </a:endParaRPr>
          </a:p>
          <a:p>
            <a:r>
              <a:rPr lang="uk-UA" sz="2800" i="1" dirty="0" smtClean="0">
                <a:sym typeface="Symbol"/>
              </a:rPr>
              <a:t>Е </a:t>
            </a:r>
            <a:r>
              <a:rPr lang="uk-UA" sz="2800" i="1" baseline="-25000" dirty="0" err="1" smtClean="0">
                <a:sym typeface="Symbol"/>
              </a:rPr>
              <a:t>йон</a:t>
            </a:r>
            <a:r>
              <a:rPr lang="uk-UA" sz="2800" i="1" baseline="-25000" dirty="0" smtClean="0">
                <a:sym typeface="Symbol"/>
              </a:rPr>
              <a:t>.</a:t>
            </a:r>
            <a:r>
              <a:rPr lang="uk-UA" sz="2800" i="1" dirty="0" smtClean="0">
                <a:sym typeface="Symbol"/>
              </a:rPr>
              <a:t> </a:t>
            </a:r>
            <a:r>
              <a:rPr lang="uk-UA" sz="2800" dirty="0">
                <a:sym typeface="Symbol"/>
              </a:rPr>
              <a:t> </a:t>
            </a:r>
            <a:r>
              <a:rPr lang="uk-UA" sz="2800" dirty="0" smtClean="0">
                <a:sym typeface="Symbol"/>
              </a:rPr>
              <a:t> </a:t>
            </a:r>
            <a:endParaRPr lang="uk-UA" sz="2800" dirty="0" smtClean="0">
              <a:sym typeface="Symbol"/>
            </a:endParaRPr>
          </a:p>
          <a:p>
            <a:r>
              <a:rPr lang="uk-UA" sz="2800" i="1" dirty="0" smtClean="0">
                <a:sym typeface="Symbol"/>
              </a:rPr>
              <a:t>Е </a:t>
            </a:r>
            <a:r>
              <a:rPr lang="uk-UA" sz="2800" i="1" baseline="-25000" dirty="0" err="1" smtClean="0">
                <a:sym typeface="Symbol"/>
              </a:rPr>
              <a:t>сп</a:t>
            </a:r>
            <a:r>
              <a:rPr lang="uk-UA" sz="2800" i="1" baseline="-25000" dirty="0" smtClean="0">
                <a:sym typeface="Symbol"/>
              </a:rPr>
              <a:t>. до </a:t>
            </a:r>
            <a:r>
              <a:rPr lang="uk-UA" sz="2800" i="1" baseline="-25000" dirty="0" err="1" smtClean="0">
                <a:sym typeface="Symbol"/>
              </a:rPr>
              <a:t>ел</a:t>
            </a:r>
            <a:r>
              <a:rPr lang="uk-UA" sz="2800" i="1" baseline="-25000" dirty="0" smtClean="0">
                <a:sym typeface="Symbol"/>
              </a:rPr>
              <a:t>.</a:t>
            </a:r>
            <a:r>
              <a:rPr lang="uk-UA" sz="2800" dirty="0" smtClean="0">
                <a:sym typeface="Symbol"/>
              </a:rPr>
              <a:t> </a:t>
            </a:r>
            <a:r>
              <a:rPr lang="uk-UA" sz="2800" dirty="0">
                <a:sym typeface="Symbol"/>
              </a:rPr>
              <a:t> </a:t>
            </a:r>
            <a:endParaRPr lang="uk-UA" sz="2800" baseline="-25000" dirty="0" smtClean="0">
              <a:sym typeface="Symbol"/>
            </a:endParaRPr>
          </a:p>
          <a:p>
            <a:endParaRPr lang="uk-UA" sz="2800" i="1" dirty="0" smtClean="0">
              <a:sym typeface="Symbol"/>
            </a:endParaRPr>
          </a:p>
          <a:p>
            <a:r>
              <a:rPr lang="uk-UA" sz="2800" i="1" dirty="0" smtClean="0">
                <a:sym typeface="Symbol"/>
              </a:rPr>
              <a:t>неметалеві </a:t>
            </a:r>
            <a:r>
              <a:rPr lang="uk-UA" sz="2800" dirty="0" smtClean="0">
                <a:sym typeface="Symbol"/>
              </a:rPr>
              <a:t></a:t>
            </a:r>
            <a:r>
              <a:rPr lang="uk-UA" sz="2800" i="1" dirty="0" smtClean="0">
                <a:sym typeface="Symbol"/>
              </a:rPr>
              <a:t> </a:t>
            </a:r>
          </a:p>
          <a:p>
            <a:r>
              <a:rPr lang="uk-UA" sz="2800" i="1" dirty="0" smtClean="0">
                <a:sym typeface="Symbol"/>
              </a:rPr>
              <a:t>окисні </a:t>
            </a:r>
            <a:r>
              <a:rPr lang="uk-UA" sz="2800" dirty="0" smtClean="0">
                <a:sym typeface="Symbol"/>
              </a:rPr>
              <a:t></a:t>
            </a:r>
            <a:r>
              <a:rPr lang="uk-UA" sz="2800" i="1" dirty="0" smtClean="0">
                <a:sym typeface="Symbol"/>
              </a:rPr>
              <a:t> </a:t>
            </a:r>
          </a:p>
          <a:p>
            <a:r>
              <a:rPr lang="uk-UA" sz="2800" i="1" dirty="0" smtClean="0">
                <a:sym typeface="Symbol"/>
              </a:rPr>
              <a:t>відновні</a:t>
            </a:r>
            <a:r>
              <a:rPr lang="uk-UA" sz="2800" dirty="0" smtClean="0">
                <a:sym typeface="Symbol"/>
              </a:rPr>
              <a:t></a:t>
            </a:r>
          </a:p>
          <a:p>
            <a:endParaRPr lang="uk-UA" dirty="0"/>
          </a:p>
        </p:txBody>
      </p:sp>
      <p:sp>
        <p:nvSpPr>
          <p:cNvPr id="7" name="Стрелка вправо 6"/>
          <p:cNvSpPr/>
          <p:nvPr/>
        </p:nvSpPr>
        <p:spPr>
          <a:xfrm rot="5400000">
            <a:off x="-158716" y="2888591"/>
            <a:ext cx="3535790" cy="1510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Стрелка вправо 7"/>
          <p:cNvSpPr/>
          <p:nvPr/>
        </p:nvSpPr>
        <p:spPr>
          <a:xfrm>
            <a:off x="5254673" y="1635646"/>
            <a:ext cx="2989735" cy="2277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Прямоугольник 8"/>
          <p:cNvSpPr/>
          <p:nvPr/>
        </p:nvSpPr>
        <p:spPr>
          <a:xfrm>
            <a:off x="5491786" y="1122879"/>
            <a:ext cx="23310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F &gt; Cl &gt; Br &gt; I</a:t>
            </a:r>
            <a:endParaRPr lang="uk-UA" sz="3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254673" y="1863410"/>
            <a:ext cx="3060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i="1" dirty="0"/>
              <a:t>Окисна </a:t>
            </a:r>
            <a:r>
              <a:rPr lang="uk-UA" sz="2400" i="1" dirty="0" smtClean="0"/>
              <a:t>активність </a:t>
            </a:r>
            <a:r>
              <a:rPr lang="uk-UA" sz="2400" dirty="0" smtClean="0">
                <a:sym typeface="Symbol"/>
              </a:rPr>
              <a:t></a:t>
            </a:r>
            <a:endParaRPr lang="uk-UA" sz="2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45460" y="1023426"/>
            <a:ext cx="88821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800" baseline="-25000" dirty="0"/>
              <a:t>9</a:t>
            </a:r>
            <a:r>
              <a:rPr lang="en-US" sz="3600" dirty="0" smtClean="0"/>
              <a:t>F</a:t>
            </a:r>
            <a:endParaRPr lang="uk-UA" sz="3600" dirty="0" smtClean="0"/>
          </a:p>
          <a:p>
            <a:pPr algn="ctr"/>
            <a:endParaRPr lang="uk-UA" sz="3200" dirty="0"/>
          </a:p>
          <a:p>
            <a:pPr algn="ctr"/>
            <a:r>
              <a:rPr lang="uk-UA" sz="2800" baseline="-25000" dirty="0" smtClean="0"/>
              <a:t>17</a:t>
            </a:r>
            <a:r>
              <a:rPr lang="en-US" sz="3600" dirty="0" smtClean="0"/>
              <a:t>Cl </a:t>
            </a:r>
            <a:endParaRPr lang="uk-UA" sz="3600" dirty="0" smtClean="0"/>
          </a:p>
          <a:p>
            <a:pPr algn="ctr"/>
            <a:endParaRPr lang="uk-UA" sz="3200" dirty="0" smtClean="0"/>
          </a:p>
          <a:p>
            <a:pPr algn="ctr"/>
            <a:r>
              <a:rPr lang="uk-UA" sz="2800" baseline="-25000" dirty="0" smtClean="0"/>
              <a:t>35</a:t>
            </a:r>
            <a:r>
              <a:rPr lang="en-US" sz="3600" dirty="0" smtClean="0"/>
              <a:t>Br</a:t>
            </a:r>
            <a:endParaRPr lang="uk-UA" sz="3600" dirty="0" smtClean="0"/>
          </a:p>
          <a:p>
            <a:pPr algn="ctr"/>
            <a:r>
              <a:rPr lang="en-US" sz="3200" dirty="0" smtClean="0"/>
              <a:t> </a:t>
            </a:r>
            <a:endParaRPr lang="uk-UA" sz="3200" dirty="0" smtClean="0"/>
          </a:p>
          <a:p>
            <a:pPr algn="ctr"/>
            <a:r>
              <a:rPr lang="uk-UA" sz="2800" baseline="-25000" dirty="0" smtClean="0"/>
              <a:t>53</a:t>
            </a:r>
            <a:r>
              <a:rPr lang="en-US" sz="3600" dirty="0" smtClean="0"/>
              <a:t>I</a:t>
            </a:r>
            <a:endParaRPr lang="en-US" sz="3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405355" y="2673526"/>
            <a:ext cx="26645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F</a:t>
            </a:r>
            <a:r>
              <a:rPr lang="uk-UA" sz="3200" baseline="30000" dirty="0" smtClean="0"/>
              <a:t>-</a:t>
            </a:r>
            <a:r>
              <a:rPr lang="en-US" sz="3200" dirty="0" smtClean="0"/>
              <a:t> </a:t>
            </a:r>
            <a:r>
              <a:rPr lang="en-US" sz="3200" dirty="0"/>
              <a:t>&gt; </a:t>
            </a:r>
            <a:r>
              <a:rPr lang="en-US" sz="3200" dirty="0" smtClean="0"/>
              <a:t>Cl</a:t>
            </a:r>
            <a:r>
              <a:rPr lang="uk-UA" sz="3200" baseline="30000" dirty="0" smtClean="0"/>
              <a:t>-</a:t>
            </a:r>
            <a:r>
              <a:rPr lang="en-US" sz="3200" dirty="0" smtClean="0"/>
              <a:t> </a:t>
            </a:r>
            <a:r>
              <a:rPr lang="en-US" sz="3200" dirty="0"/>
              <a:t>&gt; </a:t>
            </a:r>
            <a:r>
              <a:rPr lang="en-US" sz="3200" dirty="0" smtClean="0"/>
              <a:t>Br</a:t>
            </a:r>
            <a:r>
              <a:rPr lang="uk-UA" sz="3200" baseline="30000" dirty="0" smtClean="0"/>
              <a:t>-</a:t>
            </a:r>
            <a:r>
              <a:rPr lang="en-US" sz="3200" dirty="0" smtClean="0"/>
              <a:t> </a:t>
            </a:r>
            <a:r>
              <a:rPr lang="en-US" sz="3200" dirty="0"/>
              <a:t>&gt; </a:t>
            </a:r>
            <a:r>
              <a:rPr lang="en-US" sz="3200" dirty="0" smtClean="0"/>
              <a:t>I</a:t>
            </a:r>
            <a:r>
              <a:rPr lang="uk-UA" sz="3200" baseline="30000" dirty="0" smtClean="0"/>
              <a:t>-</a:t>
            </a:r>
            <a:endParaRPr lang="en-US" sz="32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73" y="3196349"/>
            <a:ext cx="3005137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152080" y="3476176"/>
            <a:ext cx="3265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i="1" dirty="0" smtClean="0"/>
              <a:t>Відновна активність </a:t>
            </a:r>
            <a:r>
              <a:rPr lang="uk-UA" sz="2400" dirty="0" smtClean="0">
                <a:sym typeface="Symbol"/>
              </a:rPr>
              <a:t></a:t>
            </a:r>
            <a:endParaRPr lang="uk-UA" sz="2400" i="1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Властивості елементів</a:t>
            </a:r>
          </a:p>
        </p:txBody>
      </p:sp>
    </p:spTree>
    <p:extLst>
      <p:ext uri="{BB962C8B-B14F-4D97-AF65-F5344CB8AC3E}">
        <p14:creationId xmlns:p14="http://schemas.microsoft.com/office/powerpoint/2010/main" val="381999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0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Поширення в природі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643239"/>
            <a:ext cx="2608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/>
              <a:t>У неживій природі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336637" y="638476"/>
            <a:ext cx="2293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/>
              <a:t>У живій природі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4261218743"/>
              </p:ext>
            </p:extLst>
          </p:nvPr>
        </p:nvGraphicFramePr>
        <p:xfrm>
          <a:off x="242578" y="1100141"/>
          <a:ext cx="8658844" cy="3561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894571" y="1851670"/>
            <a:ext cx="1354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uk-UA" dirty="0"/>
              <a:t>Поширений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880" y="3794935"/>
            <a:ext cx="59055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uk-UA" sz="1600" dirty="0" err="1" smtClean="0"/>
              <a:t>Протибактерицидна</a:t>
            </a:r>
            <a:r>
              <a:rPr lang="uk-UA" sz="1600" dirty="0" smtClean="0"/>
              <a:t> функція (шлунковий сік)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600" dirty="0" smtClean="0"/>
              <a:t> Підтримує активність середовища в якому працюють </a:t>
            </a:r>
          </a:p>
          <a:p>
            <a:r>
              <a:rPr lang="uk-UA" sz="1600" dirty="0" smtClean="0"/>
              <a:t>протеолітичні </a:t>
            </a:r>
            <a:r>
              <a:rPr lang="uk-UA" sz="1600" dirty="0" smtClean="0"/>
              <a:t>ферменти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600" dirty="0" smtClean="0"/>
              <a:t>Регуляція водно сольового балансу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600" dirty="0" smtClean="0"/>
              <a:t>Підтримання сталого </a:t>
            </a:r>
            <a:r>
              <a:rPr lang="uk-UA" sz="1600" dirty="0" smtClean="0"/>
              <a:t>осмотичного </a:t>
            </a:r>
            <a:r>
              <a:rPr lang="uk-UA" sz="1600" dirty="0" smtClean="0"/>
              <a:t>тиску крові і </a:t>
            </a:r>
            <a:r>
              <a:rPr lang="uk-UA" sz="1600" dirty="0" smtClean="0"/>
              <a:t>тканинних </a:t>
            </a:r>
            <a:r>
              <a:rPr lang="uk-UA" sz="1600" dirty="0" smtClean="0"/>
              <a:t>рідин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0857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9961"/>
            <a:ext cx="7869890" cy="669582"/>
          </a:xfrm>
        </p:spPr>
        <p:txBody>
          <a:bodyPr/>
          <a:lstStyle/>
          <a:p>
            <a:pPr algn="ctr"/>
            <a:r>
              <a:rPr lang="ru-RU" dirty="0" smtClean="0"/>
              <a:t>М</a:t>
            </a:r>
            <a:r>
              <a:rPr lang="uk-UA" dirty="0" smtClean="0"/>
              <a:t>і</a:t>
            </a:r>
            <a:r>
              <a:rPr lang="ru-RU" dirty="0" err="1" smtClean="0"/>
              <a:t>нерали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563638"/>
            <a:ext cx="3175000" cy="300990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052664"/>
            <a:ext cx="3175000" cy="237490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73" b="11333"/>
          <a:stretch/>
        </p:blipFill>
        <p:spPr>
          <a:xfrm>
            <a:off x="4932040" y="2240114"/>
            <a:ext cx="3168352" cy="267562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23" y="1198284"/>
            <a:ext cx="2780393" cy="2780393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6" name="Прямоугольник 5"/>
          <p:cNvSpPr/>
          <p:nvPr/>
        </p:nvSpPr>
        <p:spPr>
          <a:xfrm>
            <a:off x="645614" y="1052664"/>
            <a:ext cx="18610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dirty="0"/>
              <a:t>Галіт </a:t>
            </a:r>
            <a:r>
              <a:rPr lang="en-US" sz="3200" i="1" dirty="0" err="1">
                <a:solidFill>
                  <a:schemeClr val="accent1">
                    <a:lumMod val="50000"/>
                  </a:schemeClr>
                </a:solidFill>
              </a:rPr>
              <a:t>NaCl</a:t>
            </a:r>
            <a:endParaRPr lang="en-US" sz="32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39552" y="1779662"/>
            <a:ext cx="22368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dirty="0" smtClean="0"/>
              <a:t>Сильвін </a:t>
            </a:r>
            <a:r>
              <a:rPr lang="en-US" sz="3200" i="1" dirty="0" err="1" smtClean="0">
                <a:solidFill>
                  <a:schemeClr val="accent1">
                    <a:lumMod val="50000"/>
                  </a:schemeClr>
                </a:solidFill>
              </a:rPr>
              <a:t>KCl</a:t>
            </a:r>
            <a:r>
              <a:rPr lang="en-US" sz="32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sz="32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39552" y="2643758"/>
            <a:ext cx="33782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dirty="0"/>
              <a:t>Сильвініт </a:t>
            </a:r>
            <a:r>
              <a:rPr lang="en-US" sz="3200" i="1" dirty="0" err="1" smtClean="0">
                <a:solidFill>
                  <a:schemeClr val="accent1">
                    <a:lumMod val="50000"/>
                  </a:schemeClr>
                </a:solidFill>
              </a:rPr>
              <a:t>NaCl</a:t>
            </a:r>
            <a:r>
              <a:rPr lang="uk-UA" sz="2400" i="1" dirty="0" smtClean="0">
                <a:solidFill>
                  <a:schemeClr val="accent1">
                    <a:lumMod val="50000"/>
                  </a:schemeClr>
                </a:solidFill>
                <a:sym typeface="Symbol"/>
              </a:rPr>
              <a:t></a:t>
            </a:r>
            <a:r>
              <a:rPr lang="en-US" sz="3200" i="1" dirty="0" err="1" smtClean="0">
                <a:solidFill>
                  <a:schemeClr val="accent1">
                    <a:lumMod val="50000"/>
                  </a:schemeClr>
                </a:solidFill>
              </a:rPr>
              <a:t>KCl</a:t>
            </a:r>
            <a:endParaRPr lang="en-US" sz="32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38943" y="3393902"/>
            <a:ext cx="43865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dirty="0"/>
              <a:t>Карналіт</a:t>
            </a:r>
            <a:r>
              <a:rPr lang="en-US" sz="3200" dirty="0"/>
              <a:t> </a:t>
            </a:r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KCl</a:t>
            </a:r>
            <a:r>
              <a:rPr lang="en-US" sz="3200" i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</a:t>
            </a:r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MgCl</a:t>
            </a:r>
            <a:r>
              <a:rPr lang="en-US" sz="3200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sz="3200" i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</a:t>
            </a:r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en-US" sz="3200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236488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0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Поширення в природі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665338"/>
            <a:ext cx="2608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/>
              <a:t>У неживій природі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424743" y="623479"/>
            <a:ext cx="2293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/>
              <a:t>У живій природі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2037924231"/>
              </p:ext>
            </p:extLst>
          </p:nvPr>
        </p:nvGraphicFramePr>
        <p:xfrm>
          <a:off x="251520" y="1085144"/>
          <a:ext cx="8802860" cy="3613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4067944" y="3959904"/>
            <a:ext cx="49060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uk-UA" dirty="0" smtClean="0"/>
              <a:t>Активує ферменти підшлункової залози при перетравленні їжі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uk-UA" dirty="0" smtClean="0"/>
              <a:t>Впливає на активність щитовидної залози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uk-UA" dirty="0" smtClean="0"/>
              <a:t>Регулює роботу центральної нервової системи</a:t>
            </a:r>
            <a:endParaRPr lang="uk-UA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707904" y="1563638"/>
            <a:ext cx="23042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2000" dirty="0" smtClean="0"/>
              <a:t>Поширений</a:t>
            </a:r>
            <a:r>
              <a:rPr lang="en-US" dirty="0" smtClean="0"/>
              <a:t> </a:t>
            </a:r>
            <a:r>
              <a:rPr lang="uk-UA" sz="2000" dirty="0" smtClean="0"/>
              <a:t>у розсіяному стані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5442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0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Поширення в природі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524746"/>
            <a:ext cx="2608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/>
              <a:t>У неживій природі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331825" y="582490"/>
            <a:ext cx="2293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/>
              <a:t>У живій природі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3297321226"/>
              </p:ext>
            </p:extLst>
          </p:nvPr>
        </p:nvGraphicFramePr>
        <p:xfrm>
          <a:off x="179512" y="1131590"/>
          <a:ext cx="8712968" cy="3467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4266084" y="4282478"/>
            <a:ext cx="48779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uk-UA" dirty="0" smtClean="0"/>
              <a:t>Регуляція </a:t>
            </a:r>
            <a:r>
              <a:rPr lang="uk-UA" dirty="0" err="1" smtClean="0"/>
              <a:t>швидкісті</a:t>
            </a:r>
            <a:r>
              <a:rPr lang="uk-UA" dirty="0" smtClean="0"/>
              <a:t> біохімічних реакцій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 smtClean="0"/>
              <a:t>Регуляція обміну речовин, розвитку організму та процесів росту </a:t>
            </a:r>
            <a:endParaRPr lang="uk-UA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563888" y="1851670"/>
            <a:ext cx="2304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2000" dirty="0" smtClean="0"/>
              <a:t>Поширений</a:t>
            </a:r>
            <a:r>
              <a:rPr lang="en-US" dirty="0" smtClean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0156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0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Прості речовини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9552" y="1032946"/>
            <a:ext cx="16448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dirty="0" smtClean="0">
                <a:solidFill>
                  <a:prstClr val="black"/>
                </a:solidFill>
              </a:rPr>
              <a:t>Cl</a:t>
            </a:r>
            <a:r>
              <a:rPr lang="uk-UA" sz="3200" baseline="-25000" dirty="0" smtClean="0">
                <a:solidFill>
                  <a:prstClr val="black"/>
                </a:solidFill>
              </a:rPr>
              <a:t>2   </a:t>
            </a:r>
            <a:r>
              <a:rPr lang="uk-UA" sz="2800" dirty="0" smtClean="0">
                <a:solidFill>
                  <a:prstClr val="black"/>
                </a:solidFill>
              </a:rPr>
              <a:t>хлор</a:t>
            </a:r>
            <a:r>
              <a:rPr lang="en-US" sz="3200" dirty="0" smtClean="0">
                <a:solidFill>
                  <a:prstClr val="black"/>
                </a:solidFill>
              </a:rPr>
              <a:t> </a:t>
            </a:r>
            <a:endParaRPr lang="uk-UA" sz="3200" dirty="0">
              <a:solidFill>
                <a:prstClr val="black"/>
              </a:solidFill>
            </a:endParaRPr>
          </a:p>
          <a:p>
            <a:pPr lvl="0"/>
            <a:r>
              <a:rPr lang="en-US" sz="3200" dirty="0" smtClean="0">
                <a:solidFill>
                  <a:prstClr val="black"/>
                </a:solidFill>
              </a:rPr>
              <a:t>Br</a:t>
            </a:r>
            <a:r>
              <a:rPr lang="uk-UA" sz="3200" baseline="-25000" dirty="0" smtClean="0">
                <a:solidFill>
                  <a:prstClr val="black"/>
                </a:solidFill>
              </a:rPr>
              <a:t>2</a:t>
            </a:r>
            <a:r>
              <a:rPr lang="en-US" sz="3200" dirty="0" smtClean="0">
                <a:solidFill>
                  <a:prstClr val="black"/>
                </a:solidFill>
              </a:rPr>
              <a:t> </a:t>
            </a:r>
            <a:r>
              <a:rPr lang="uk-UA" sz="2800" dirty="0" smtClean="0">
                <a:solidFill>
                  <a:prstClr val="black"/>
                </a:solidFill>
              </a:rPr>
              <a:t>бром</a:t>
            </a:r>
            <a:endParaRPr lang="uk-UA" sz="2800" dirty="0">
              <a:solidFill>
                <a:prstClr val="black"/>
              </a:solidFill>
            </a:endParaRPr>
          </a:p>
          <a:p>
            <a:pPr lvl="0"/>
            <a:r>
              <a:rPr lang="en-US" sz="3200" dirty="0" smtClean="0">
                <a:solidFill>
                  <a:prstClr val="black"/>
                </a:solidFill>
              </a:rPr>
              <a:t>I</a:t>
            </a:r>
            <a:r>
              <a:rPr lang="uk-UA" sz="3200" baseline="-25000" dirty="0" smtClean="0">
                <a:solidFill>
                  <a:prstClr val="black"/>
                </a:solidFill>
              </a:rPr>
              <a:t>2      </a:t>
            </a:r>
            <a:r>
              <a:rPr lang="uk-UA" sz="2800" dirty="0" smtClean="0">
                <a:solidFill>
                  <a:prstClr val="black"/>
                </a:solidFill>
              </a:rPr>
              <a:t>йод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2229420" y="1108024"/>
            <a:ext cx="216024" cy="1399008"/>
          </a:xfrm>
          <a:prstGeom prst="rightBrac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угольник 5"/>
          <p:cNvSpPr/>
          <p:nvPr/>
        </p:nvSpPr>
        <p:spPr>
          <a:xfrm>
            <a:off x="2086876" y="1522885"/>
            <a:ext cx="19008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i="1" dirty="0" smtClean="0"/>
              <a:t>Двохатомні </a:t>
            </a:r>
            <a:r>
              <a:rPr lang="uk-UA" i="1" dirty="0" smtClean="0"/>
              <a:t>молекули  </a:t>
            </a:r>
            <a:endParaRPr lang="uk-UA" i="1" dirty="0" smtClean="0"/>
          </a:p>
          <a:p>
            <a:pPr algn="ctr"/>
            <a:endParaRPr lang="uk-UA" i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9" t="3592" r="2170" b="7992"/>
          <a:stretch/>
        </p:blipFill>
        <p:spPr>
          <a:xfrm>
            <a:off x="488223" y="2789047"/>
            <a:ext cx="1425563" cy="1326567"/>
          </a:xfrm>
          <a:prstGeom prst="rect">
            <a:avLst/>
          </a:prstGeom>
        </p:spPr>
      </p:pic>
      <p:cxnSp>
        <p:nvCxnSpPr>
          <p:cNvPr id="10" name="Прямая со стрелкой 9"/>
          <p:cNvCxnSpPr/>
          <p:nvPr/>
        </p:nvCxnSpPr>
        <p:spPr>
          <a:xfrm flipV="1">
            <a:off x="4788024" y="1491630"/>
            <a:ext cx="0" cy="21903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4788024" y="3682008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олилиния 17"/>
          <p:cNvSpPr/>
          <p:nvPr/>
        </p:nvSpPr>
        <p:spPr>
          <a:xfrm>
            <a:off x="4779818" y="2067694"/>
            <a:ext cx="3248566" cy="1178211"/>
          </a:xfrm>
          <a:custGeom>
            <a:avLst/>
            <a:gdLst>
              <a:gd name="connsiteX0" fmla="*/ 0 w 2694633"/>
              <a:gd name="connsiteY0" fmla="*/ 1205486 h 1438027"/>
              <a:gd name="connsiteX1" fmla="*/ 550718 w 2694633"/>
              <a:gd name="connsiteY1" fmla="*/ 1205486 h 1438027"/>
              <a:gd name="connsiteX2" fmla="*/ 1080655 w 2694633"/>
              <a:gd name="connsiteY2" fmla="*/ 140 h 1438027"/>
              <a:gd name="connsiteX3" fmla="*/ 1745673 w 2694633"/>
              <a:gd name="connsiteY3" fmla="*/ 1288613 h 1438027"/>
              <a:gd name="connsiteX4" fmla="*/ 2618509 w 2694633"/>
              <a:gd name="connsiteY4" fmla="*/ 1423695 h 1438027"/>
              <a:gd name="connsiteX5" fmla="*/ 2649682 w 2694633"/>
              <a:gd name="connsiteY5" fmla="*/ 1434086 h 143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4633" h="1438027">
                <a:moveTo>
                  <a:pt x="0" y="1205486"/>
                </a:moveTo>
                <a:cubicBezTo>
                  <a:pt x="185304" y="1305931"/>
                  <a:pt x="370609" y="1406377"/>
                  <a:pt x="550718" y="1205486"/>
                </a:cubicBezTo>
                <a:cubicBezTo>
                  <a:pt x="730827" y="1004595"/>
                  <a:pt x="881496" y="-13714"/>
                  <a:pt x="1080655" y="140"/>
                </a:cubicBezTo>
                <a:cubicBezTo>
                  <a:pt x="1279814" y="13994"/>
                  <a:pt x="1489364" y="1051354"/>
                  <a:pt x="1745673" y="1288613"/>
                </a:cubicBezTo>
                <a:cubicBezTo>
                  <a:pt x="2001982" y="1525872"/>
                  <a:pt x="2467841" y="1399449"/>
                  <a:pt x="2618509" y="1423695"/>
                </a:cubicBezTo>
                <a:cubicBezTo>
                  <a:pt x="2769177" y="1447941"/>
                  <a:pt x="2649682" y="1434086"/>
                  <a:pt x="2649682" y="1434086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20" name="Прямая соединительная линия 19"/>
          <p:cNvCxnSpPr>
            <a:stCxn id="18" idx="2"/>
          </p:cNvCxnSpPr>
          <p:nvPr/>
        </p:nvCxnSpPr>
        <p:spPr>
          <a:xfrm>
            <a:off x="6082622" y="2067809"/>
            <a:ext cx="1546" cy="1614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7" name="Прямая соединительная линия 4096"/>
          <p:cNvCxnSpPr/>
          <p:nvPr/>
        </p:nvCxnSpPr>
        <p:spPr>
          <a:xfrm>
            <a:off x="6552220" y="2715766"/>
            <a:ext cx="36004" cy="966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0" name="Прямая соединительная линия 4099"/>
          <p:cNvCxnSpPr/>
          <p:nvPr/>
        </p:nvCxnSpPr>
        <p:spPr>
          <a:xfrm>
            <a:off x="7092280" y="3198887"/>
            <a:ext cx="0" cy="483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Прямоугольник 4101"/>
          <p:cNvSpPr/>
          <p:nvPr/>
        </p:nvSpPr>
        <p:spPr>
          <a:xfrm>
            <a:off x="5508104" y="3682008"/>
            <a:ext cx="19259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b="1" dirty="0" smtClean="0">
                <a:solidFill>
                  <a:prstClr val="black"/>
                </a:solidFill>
              </a:rPr>
              <a:t>F</a:t>
            </a:r>
            <a:r>
              <a:rPr lang="en-US" sz="1400" b="1" baseline="-25000" dirty="0" smtClean="0">
                <a:solidFill>
                  <a:prstClr val="black"/>
                </a:solidFill>
              </a:rPr>
              <a:t>2</a:t>
            </a:r>
            <a:r>
              <a:rPr lang="en-US" sz="1400" b="1" dirty="0" smtClean="0">
                <a:solidFill>
                  <a:prstClr val="black"/>
                </a:solidFill>
              </a:rPr>
              <a:t>        Cl</a:t>
            </a:r>
            <a:r>
              <a:rPr lang="uk-UA" sz="1400" b="1" baseline="-25000" dirty="0">
                <a:solidFill>
                  <a:prstClr val="black"/>
                </a:solidFill>
              </a:rPr>
              <a:t>2 </a:t>
            </a:r>
            <a:r>
              <a:rPr lang="en-US" sz="1400" b="1" baseline="-25000" dirty="0" smtClean="0">
                <a:solidFill>
                  <a:prstClr val="black"/>
                </a:solidFill>
              </a:rPr>
              <a:t>          </a:t>
            </a:r>
            <a:r>
              <a:rPr lang="en-US" sz="1400" b="1" dirty="0" smtClean="0">
                <a:solidFill>
                  <a:prstClr val="black"/>
                </a:solidFill>
              </a:rPr>
              <a:t> Br</a:t>
            </a:r>
            <a:r>
              <a:rPr lang="uk-UA" sz="1400" b="1" baseline="-25000" dirty="0">
                <a:solidFill>
                  <a:prstClr val="black"/>
                </a:solidFill>
              </a:rPr>
              <a:t>2</a:t>
            </a:r>
            <a:r>
              <a:rPr lang="en-US" sz="1400" b="1" dirty="0">
                <a:solidFill>
                  <a:prstClr val="black"/>
                </a:solidFill>
              </a:rPr>
              <a:t> </a:t>
            </a:r>
            <a:r>
              <a:rPr lang="en-US" sz="1400" b="1" dirty="0" smtClean="0">
                <a:solidFill>
                  <a:prstClr val="black"/>
                </a:solidFill>
              </a:rPr>
              <a:t>       I</a:t>
            </a:r>
            <a:r>
              <a:rPr lang="uk-UA" sz="1400" b="1" baseline="-25000" dirty="0">
                <a:solidFill>
                  <a:prstClr val="black"/>
                </a:solidFill>
              </a:rPr>
              <a:t>2</a:t>
            </a:r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4103" name="Прямоугольник 4102"/>
          <p:cNvSpPr/>
          <p:nvPr/>
        </p:nvSpPr>
        <p:spPr>
          <a:xfrm>
            <a:off x="4032788" y="1344069"/>
            <a:ext cx="855042" cy="7514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k-UA" dirty="0" err="1" smtClean="0">
                <a:ea typeface="Calibri"/>
                <a:cs typeface="Times New Roman"/>
              </a:rPr>
              <a:t>Е</a:t>
            </a:r>
            <a:r>
              <a:rPr lang="uk-UA" baseline="-10000" dirty="0" err="1" smtClean="0">
                <a:ea typeface="Calibri"/>
                <a:cs typeface="Times New Roman"/>
              </a:rPr>
              <a:t>зв</a:t>
            </a:r>
            <a:r>
              <a:rPr lang="uk-UA" baseline="-10000" dirty="0" smtClean="0">
                <a:ea typeface="Calibri"/>
                <a:cs typeface="Times New Roman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uk-UA" baseline="-10000" dirty="0" err="1" smtClean="0">
                <a:ea typeface="Calibri"/>
                <a:cs typeface="Times New Roman"/>
              </a:rPr>
              <a:t>кДж</a:t>
            </a:r>
            <a:r>
              <a:rPr lang="uk-UA" baseline="-10000" dirty="0" smtClean="0">
                <a:ea typeface="Calibri"/>
                <a:cs typeface="Times New Roman"/>
              </a:rPr>
              <a:t>/моль</a:t>
            </a:r>
            <a:endParaRPr lang="ru-RU" baseline="-10000" dirty="0">
              <a:ea typeface="Calibri"/>
              <a:cs typeface="Times New Roman"/>
            </a:endParaRPr>
          </a:p>
        </p:txBody>
      </p:sp>
      <p:sp>
        <p:nvSpPr>
          <p:cNvPr id="4104" name="Прямоугольник 4103"/>
          <p:cNvSpPr/>
          <p:nvPr/>
        </p:nvSpPr>
        <p:spPr>
          <a:xfrm>
            <a:off x="5722753" y="1491630"/>
            <a:ext cx="2917978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uk-UA" i="1" dirty="0" smtClean="0">
                <a:ea typeface="Calibri"/>
                <a:cs typeface="Times New Roman"/>
              </a:rPr>
              <a:t>Енергія зв'язку в </a:t>
            </a:r>
            <a:r>
              <a:rPr lang="uk-UA" i="1" dirty="0" smtClean="0">
                <a:ea typeface="Calibri"/>
                <a:cs typeface="Times New Roman"/>
              </a:rPr>
              <a:t>молекулі</a:t>
            </a:r>
            <a:r>
              <a:rPr lang="uk-UA" dirty="0" smtClean="0">
                <a:ea typeface="Calibri"/>
                <a:cs typeface="Times New Roman"/>
              </a:rPr>
              <a:t> </a:t>
            </a:r>
            <a:r>
              <a:rPr lang="uk-UA" dirty="0" smtClean="0">
                <a:ea typeface="Calibri"/>
                <a:cs typeface="Times New Roman"/>
                <a:sym typeface="Symbol"/>
              </a:rPr>
              <a:t></a:t>
            </a:r>
            <a:endParaRPr lang="ru-RU" sz="1050" dirty="0">
              <a:ea typeface="Calibri"/>
              <a:cs typeface="Times New Roman"/>
            </a:endParaRPr>
          </a:p>
        </p:txBody>
      </p:sp>
      <p:sp>
        <p:nvSpPr>
          <p:cNvPr id="4109" name="Прямоугольник 4108"/>
          <p:cNvSpPr/>
          <p:nvPr/>
        </p:nvSpPr>
        <p:spPr>
          <a:xfrm>
            <a:off x="4251502" y="4196924"/>
            <a:ext cx="4673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E</a:t>
            </a:r>
            <a:r>
              <a:rPr lang="uk-UA" i="1" baseline="-20000" dirty="0" smtClean="0"/>
              <a:t>зв</a:t>
            </a:r>
            <a:r>
              <a:rPr lang="en-US" i="1" baseline="-20000" dirty="0" smtClean="0"/>
              <a:t> </a:t>
            </a:r>
            <a:r>
              <a:rPr lang="en-US" i="1" baseline="-20000" dirty="0" smtClean="0"/>
              <a:t>F-F </a:t>
            </a:r>
            <a:r>
              <a:rPr lang="en-US" i="1" dirty="0" smtClean="0"/>
              <a:t>= 151</a:t>
            </a:r>
            <a:r>
              <a:rPr lang="uk-UA" i="1" dirty="0" err="1" smtClean="0"/>
              <a:t>кДж</a:t>
            </a:r>
            <a:r>
              <a:rPr lang="uk-UA" i="1" dirty="0" smtClean="0"/>
              <a:t>/моль</a:t>
            </a:r>
            <a:r>
              <a:rPr lang="en-US" i="1" dirty="0" smtClean="0"/>
              <a:t>      E</a:t>
            </a:r>
            <a:r>
              <a:rPr lang="uk-UA" i="1" baseline="-20000" dirty="0" err="1" smtClean="0"/>
              <a:t>зв</a:t>
            </a:r>
            <a:r>
              <a:rPr lang="en-US" i="1" baseline="-20000" dirty="0" smtClean="0"/>
              <a:t> Cl-Cl </a:t>
            </a:r>
            <a:r>
              <a:rPr lang="en-US" i="1" dirty="0" smtClean="0"/>
              <a:t>= 243</a:t>
            </a:r>
            <a:r>
              <a:rPr lang="uk-UA" i="1" dirty="0" err="1" smtClean="0"/>
              <a:t>кДж</a:t>
            </a:r>
            <a:r>
              <a:rPr lang="uk-UA" i="1" dirty="0" smtClean="0"/>
              <a:t>/моль</a:t>
            </a:r>
            <a:endParaRPr lang="uk-UA" i="1" dirty="0"/>
          </a:p>
          <a:p>
            <a:r>
              <a:rPr lang="en-US" i="1" dirty="0"/>
              <a:t>E</a:t>
            </a:r>
            <a:r>
              <a:rPr lang="uk-UA" i="1" baseline="-20000" dirty="0" err="1" smtClean="0"/>
              <a:t>зв</a:t>
            </a:r>
            <a:r>
              <a:rPr lang="en-US" i="1" baseline="-20000" dirty="0" smtClean="0"/>
              <a:t> Br-Br</a:t>
            </a:r>
            <a:r>
              <a:rPr lang="en-US" i="1" dirty="0" smtClean="0"/>
              <a:t> = 199</a:t>
            </a:r>
            <a:r>
              <a:rPr lang="uk-UA" i="1" dirty="0" err="1" smtClean="0"/>
              <a:t>кДж</a:t>
            </a:r>
            <a:r>
              <a:rPr lang="uk-UA" i="1" dirty="0" smtClean="0"/>
              <a:t>/моль</a:t>
            </a:r>
            <a:r>
              <a:rPr lang="en-US" i="1" dirty="0" smtClean="0"/>
              <a:t>   E</a:t>
            </a:r>
            <a:r>
              <a:rPr lang="uk-UA" i="1" baseline="-20000" dirty="0" err="1" smtClean="0"/>
              <a:t>зв</a:t>
            </a:r>
            <a:r>
              <a:rPr lang="en-US" i="1" baseline="-20000" dirty="0" smtClean="0"/>
              <a:t> I-I </a:t>
            </a:r>
            <a:r>
              <a:rPr lang="en-US" i="1" dirty="0" smtClean="0"/>
              <a:t>= 150,7</a:t>
            </a:r>
            <a:r>
              <a:rPr lang="uk-UA" i="1" dirty="0" err="1" smtClean="0"/>
              <a:t>кДж</a:t>
            </a:r>
            <a:r>
              <a:rPr lang="uk-UA" i="1" dirty="0" smtClean="0"/>
              <a:t>/моль</a:t>
            </a:r>
            <a:endParaRPr lang="uk-UA" i="1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580112" y="2874908"/>
            <a:ext cx="0" cy="80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991" y="2874908"/>
            <a:ext cx="288032" cy="485843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958380"/>
            <a:ext cx="2857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74" y="2971318"/>
            <a:ext cx="314586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023" y="2874908"/>
            <a:ext cx="2857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354" y="2879738"/>
            <a:ext cx="2857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24" y="3005398"/>
            <a:ext cx="2857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068545" y="2789456"/>
            <a:ext cx="215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i="1" dirty="0"/>
              <a:t>Зв’язок </a:t>
            </a:r>
          </a:p>
          <a:p>
            <a:pPr algn="ctr"/>
            <a:r>
              <a:rPr lang="uk-UA" i="1" dirty="0"/>
              <a:t>ковалентний неполярний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082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102" grpId="0"/>
      <p:bldP spid="4103" grpId="0"/>
      <p:bldP spid="4104" grpId="0"/>
      <p:bldP spid="41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5012" y="-160993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Фізичні властивості</a:t>
            </a:r>
            <a:endParaRPr lang="uk-UA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799692" y="4452342"/>
            <a:ext cx="662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375198"/>
              </p:ext>
            </p:extLst>
          </p:nvPr>
        </p:nvGraphicFramePr>
        <p:xfrm>
          <a:off x="602457" y="455332"/>
          <a:ext cx="79928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Cl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Br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газ</a:t>
                      </a:r>
                      <a:r>
                        <a:rPr lang="uk-UA" sz="2400" baseline="0" dirty="0" smtClean="0"/>
                        <a:t> 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рідина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тверда речовина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жовто-зелений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темно-червона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чорно-сіра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розчинний у воді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малорозчинний у воді, розчиняється в орг. </a:t>
                      </a:r>
                      <a:r>
                        <a:rPr lang="uk-UA" sz="2400" dirty="0" smtClean="0"/>
                        <a:t>розчинниках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400" noProof="0" dirty="0" smtClean="0"/>
                        <a:t>малорозчинний у воді, розчиняється в орг. </a:t>
                      </a:r>
                      <a:r>
                        <a:rPr lang="uk-UA" sz="2400" dirty="0" smtClean="0"/>
                        <a:t>розчинниках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0"/>
          <a:stretch/>
        </p:blipFill>
        <p:spPr>
          <a:xfrm>
            <a:off x="2058733" y="3600524"/>
            <a:ext cx="4176464" cy="143779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9"/>
          <a:stretch/>
        </p:blipFill>
        <p:spPr>
          <a:xfrm>
            <a:off x="4725684" y="3648025"/>
            <a:ext cx="1509513" cy="12178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/>
          <p:cNvSpPr txBox="1"/>
          <p:nvPr/>
        </p:nvSpPr>
        <p:spPr>
          <a:xfrm>
            <a:off x="3637523" y="3124446"/>
            <a:ext cx="2082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 smtClean="0"/>
              <a:t>Пари токсичні </a:t>
            </a:r>
            <a:endParaRPr lang="ru-RU" sz="2400" dirty="0"/>
          </a:p>
        </p:txBody>
      </p:sp>
      <p:sp>
        <p:nvSpPr>
          <p:cNvPr id="4" name="Правая фигурная скобка 3"/>
          <p:cNvSpPr/>
          <p:nvPr/>
        </p:nvSpPr>
        <p:spPr>
          <a:xfrm rot="5400000">
            <a:off x="4403380" y="-899615"/>
            <a:ext cx="391042" cy="7992888"/>
          </a:xfrm>
          <a:prstGeom prst="rightBrace">
            <a:avLst>
              <a:gd name="adj1" fmla="val 8333"/>
              <a:gd name="adj2" fmla="val 50806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15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788024" y="987574"/>
            <a:ext cx="295232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i="1" dirty="0" smtClean="0"/>
              <a:t>За нагрівання сублімується</a:t>
            </a:r>
          </a:p>
          <a:p>
            <a:r>
              <a:rPr lang="en-US" sz="3200" i="1" dirty="0" smtClean="0"/>
              <a:t>I</a:t>
            </a:r>
            <a:r>
              <a:rPr lang="en-US" sz="3200" i="1" baseline="-25000" dirty="0" smtClean="0"/>
              <a:t>2(</a:t>
            </a:r>
            <a:r>
              <a:rPr lang="uk-UA" sz="3200" i="1" baseline="-25000" dirty="0" err="1" smtClean="0"/>
              <a:t>кр</a:t>
            </a:r>
            <a:r>
              <a:rPr lang="en-US" sz="3200" i="1" baseline="-25000" dirty="0" smtClean="0"/>
              <a:t>)</a:t>
            </a:r>
            <a:r>
              <a:rPr lang="uk-UA" sz="3200" i="1" baseline="-25000" dirty="0" smtClean="0"/>
              <a:t> </a:t>
            </a:r>
            <a:r>
              <a:rPr lang="en-US" sz="3200" i="1" dirty="0" smtClean="0">
                <a:sym typeface="Wingdings" pitchFamily="2" charset="2"/>
              </a:rPr>
              <a:t> I</a:t>
            </a:r>
            <a:r>
              <a:rPr lang="en-US" sz="3200" i="1" baseline="-25000" dirty="0" smtClean="0">
                <a:sym typeface="Wingdings" pitchFamily="2" charset="2"/>
              </a:rPr>
              <a:t>2</a:t>
            </a:r>
            <a:r>
              <a:rPr lang="en-US" sz="3200" i="1" dirty="0" smtClean="0">
                <a:sym typeface="Wingdings" pitchFamily="2" charset="2"/>
              </a:rPr>
              <a:t> </a:t>
            </a:r>
            <a:r>
              <a:rPr lang="en-US" sz="3200" i="1" baseline="-25000" dirty="0" smtClean="0">
                <a:sym typeface="Wingdings" pitchFamily="2" charset="2"/>
              </a:rPr>
              <a:t>(</a:t>
            </a:r>
            <a:r>
              <a:rPr lang="uk-UA" sz="3200" i="1" baseline="-25000" dirty="0" smtClean="0">
                <a:sym typeface="Wingdings" pitchFamily="2" charset="2"/>
              </a:rPr>
              <a:t>п</a:t>
            </a:r>
            <a:r>
              <a:rPr lang="en-US" sz="3200" i="1" baseline="-25000" dirty="0" smtClean="0">
                <a:sym typeface="Wingdings" pitchFamily="2" charset="2"/>
              </a:rPr>
              <a:t>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5486"/>
            <a:ext cx="3683000" cy="459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88024" y="3291830"/>
            <a:ext cx="360066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I</a:t>
            </a:r>
            <a:r>
              <a:rPr lang="en-US" sz="2800" i="1" baseline="-25000" dirty="0"/>
              <a:t>2(</a:t>
            </a:r>
            <a:r>
              <a:rPr lang="uk-UA" sz="2800" i="1" baseline="-25000" dirty="0" err="1"/>
              <a:t>кр</a:t>
            </a:r>
            <a:r>
              <a:rPr lang="en-US" sz="2800" i="1" baseline="-25000" dirty="0"/>
              <a:t>)</a:t>
            </a:r>
            <a:r>
              <a:rPr lang="uk-UA" sz="2800" i="1" baseline="-25000" dirty="0"/>
              <a:t> </a:t>
            </a:r>
            <a:r>
              <a:rPr lang="uk-UA" sz="2800" i="1" dirty="0" smtClean="0"/>
              <a:t>розчиняється в </a:t>
            </a:r>
            <a:r>
              <a:rPr lang="en-US" sz="2800" i="1" dirty="0" smtClean="0"/>
              <a:t>KI</a:t>
            </a:r>
          </a:p>
          <a:p>
            <a:r>
              <a:rPr lang="en-US" sz="2800" i="1" dirty="0" smtClean="0"/>
              <a:t>KI+I</a:t>
            </a:r>
            <a:r>
              <a:rPr lang="en-US" sz="2800" i="1" baseline="-25000" dirty="0" smtClean="0"/>
              <a:t>2</a:t>
            </a:r>
            <a:r>
              <a:rPr lang="en-US" sz="2800" i="1" dirty="0" smtClean="0"/>
              <a:t>=K</a:t>
            </a:r>
            <a:r>
              <a:rPr lang="ru-RU" sz="2800" i="1" dirty="0" smtClean="0"/>
              <a:t>[</a:t>
            </a:r>
            <a:r>
              <a:rPr lang="en-US" sz="2800" i="1" dirty="0" smtClean="0"/>
              <a:t>II</a:t>
            </a:r>
            <a:r>
              <a:rPr lang="en-US" sz="2800" i="1" baseline="-25000" dirty="0" smtClean="0"/>
              <a:t>2</a:t>
            </a:r>
            <a:r>
              <a:rPr lang="ru-RU" sz="2800" i="1" dirty="0" smtClean="0"/>
              <a:t>]</a:t>
            </a:r>
            <a:endParaRPr lang="ru-RU" sz="2800" i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91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51470"/>
            <a:ext cx="7869890" cy="720482"/>
          </a:xfrm>
        </p:spPr>
        <p:txBody>
          <a:bodyPr/>
          <a:lstStyle/>
          <a:p>
            <a:pPr algn="ctr"/>
            <a:r>
              <a:rPr lang="uk-UA" dirty="0" smtClean="0"/>
              <a:t>Хімічні властивості</a:t>
            </a:r>
            <a:endParaRPr lang="uk-UA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940406"/>
              </p:ext>
            </p:extLst>
          </p:nvPr>
        </p:nvGraphicFramePr>
        <p:xfrm>
          <a:off x="107505" y="771954"/>
          <a:ext cx="9036495" cy="3698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2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62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Cl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Br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623">
                <a:tc gridSpan="3">
                  <a:txBody>
                    <a:bodyPr/>
                    <a:lstStyle/>
                    <a:p>
                      <a:pPr algn="ctr"/>
                      <a:r>
                        <a:rPr lang="uk-UA" sz="2400" b="1" dirty="0" smtClean="0"/>
                        <a:t>Окисні властивості </a:t>
                      </a:r>
                      <a:r>
                        <a:rPr lang="uk-UA" sz="2400" b="1" dirty="0" smtClean="0">
                          <a:sym typeface="Symbol"/>
                        </a:rPr>
                        <a:t>  </a:t>
                      </a:r>
                      <a:endParaRPr lang="en-US" sz="2400" b="1" dirty="0" smtClean="0">
                        <a:sym typeface="Symbol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34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з простими речовинами: металами і неметалами</a:t>
                      </a:r>
                      <a:endParaRPr kumimoji="0" lang="uk-UA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32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Ca</a:t>
                      </a:r>
                      <a:r>
                        <a:rPr lang="en-US" sz="2400" dirty="0" smtClean="0"/>
                        <a:t> + Cl</a:t>
                      </a:r>
                      <a:r>
                        <a:rPr lang="en-US" sz="2400" baseline="-25000" dirty="0" smtClean="0"/>
                        <a:t>2 </a:t>
                      </a:r>
                      <a:r>
                        <a:rPr lang="en-US" sz="2400" baseline="0" dirty="0" smtClean="0"/>
                        <a:t>= CaCl</a:t>
                      </a:r>
                      <a:r>
                        <a:rPr lang="en-US" sz="2400" baseline="-25000" dirty="0" smtClean="0"/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Cl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2HCl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Br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CaBr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Br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2HBr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I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CaI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I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2HI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340">
                <a:tc gridSpan="3">
                  <a:txBody>
                    <a:bodyPr/>
                    <a:lstStyle/>
                    <a:p>
                      <a:pPr algn="ctr"/>
                      <a:r>
                        <a:rPr lang="uk-UA" sz="2000" i="1" baseline="0" dirty="0" smtClean="0"/>
                        <a:t>з складними речовинами</a:t>
                      </a:r>
                      <a:endParaRPr lang="uk-UA" sz="2000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2KBr + Cl</a:t>
                      </a:r>
                      <a:r>
                        <a:rPr lang="en-US" sz="2400" baseline="-25000" dirty="0" smtClean="0"/>
                        <a:t>2 </a:t>
                      </a:r>
                      <a:r>
                        <a:rPr lang="en-US" sz="2400" baseline="0" dirty="0" smtClean="0"/>
                        <a:t>= Br</a:t>
                      </a:r>
                      <a:r>
                        <a:rPr lang="en-US" sz="2400" baseline="-25000" dirty="0" smtClean="0"/>
                        <a:t>2 </a:t>
                      </a:r>
                      <a:r>
                        <a:rPr lang="en-US" sz="2400" baseline="0" dirty="0" smtClean="0"/>
                        <a:t>+ 2KCl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2KI + Br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I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+ 2KBr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Na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2NaI + Na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kumimoji="0" lang="uk-UA" sz="2400" b="0" i="0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74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21754"/>
            <a:ext cx="7869890" cy="720482"/>
          </a:xfrm>
        </p:spPr>
        <p:txBody>
          <a:bodyPr/>
          <a:lstStyle/>
          <a:p>
            <a:pPr algn="ctr"/>
            <a:r>
              <a:rPr lang="uk-UA" dirty="0" smtClean="0"/>
              <a:t>Хімічні властивості</a:t>
            </a:r>
            <a:endParaRPr lang="uk-UA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300380"/>
              </p:ext>
            </p:extLst>
          </p:nvPr>
        </p:nvGraphicFramePr>
        <p:xfrm>
          <a:off x="107503" y="771550"/>
          <a:ext cx="8930147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5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Cl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Br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</a:t>
                      </a:r>
                      <a:r>
                        <a:rPr lang="en-US" sz="2400" baseline="-25000" dirty="0" smtClean="0"/>
                        <a:t>2</a:t>
                      </a:r>
                      <a:endParaRPr lang="uk-UA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uk-UA" sz="2400" b="1" dirty="0" smtClean="0"/>
                        <a:t>Відновні властивості </a:t>
                      </a:r>
                      <a:r>
                        <a:rPr lang="uk-UA" sz="2400" b="1" dirty="0" smtClean="0">
                          <a:sym typeface="Symbol"/>
                        </a:rPr>
                        <a:t> </a:t>
                      </a:r>
                      <a:endParaRPr lang="en-US" sz="2400" b="1" dirty="0" smtClean="0">
                        <a:sym typeface="Symbol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з простими речовинами</a:t>
                      </a:r>
                      <a:endParaRPr kumimoji="0" lang="uk-UA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Cl</a:t>
                      </a:r>
                      <a:r>
                        <a:rPr lang="en-US" sz="2400" baseline="-25000" dirty="0" smtClean="0"/>
                        <a:t>2 </a:t>
                      </a:r>
                      <a:r>
                        <a:rPr lang="uk-UA" sz="2400" baseline="0" dirty="0" smtClean="0"/>
                        <a:t>+</a:t>
                      </a:r>
                      <a:r>
                        <a:rPr lang="en-US" sz="2400" baseline="0" dirty="0" smtClean="0"/>
                        <a:t> F</a:t>
                      </a:r>
                      <a:r>
                        <a:rPr lang="en-US" sz="2400" baseline="-25000" dirty="0" smtClean="0"/>
                        <a:t>2 </a:t>
                      </a:r>
                      <a:r>
                        <a:rPr lang="en-US" sz="2400" baseline="0" dirty="0" smtClean="0"/>
                        <a:t>= 2ClF</a:t>
                      </a:r>
                      <a:endParaRPr lang="en-US" sz="2400" baseline="-25000" dirty="0" smtClean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Cl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2BrCl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2ICl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uk-UA" sz="2000" i="1" baseline="0" dirty="0" smtClean="0"/>
                        <a:t>з складними речовинами</a:t>
                      </a:r>
                      <a:endParaRPr lang="uk-UA" sz="2000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 smtClean="0"/>
                        <a:t>2MgO+Cl</a:t>
                      </a:r>
                      <a:r>
                        <a:rPr lang="en-US" sz="2000" i="0" baseline="-25000" dirty="0" smtClean="0"/>
                        <a:t>2</a:t>
                      </a:r>
                      <a:r>
                        <a:rPr lang="en-US" sz="2000" i="0" baseline="0" dirty="0" smtClean="0"/>
                        <a:t>=</a:t>
                      </a:r>
                    </a:p>
                    <a:p>
                      <a:pPr algn="ctr"/>
                      <a:r>
                        <a:rPr lang="en-US" sz="2000" i="0" baseline="0" dirty="0" smtClean="0"/>
                        <a:t>MgCl</a:t>
                      </a:r>
                      <a:r>
                        <a:rPr lang="en-US" sz="2000" i="0" baseline="-25000" dirty="0" smtClean="0"/>
                        <a:t>2</a:t>
                      </a:r>
                      <a:r>
                        <a:rPr lang="en-US" sz="2000" i="0" baseline="0" dirty="0" smtClean="0"/>
                        <a:t>+O</a:t>
                      </a:r>
                      <a:r>
                        <a:rPr lang="en-US" sz="2000" i="0" baseline="-25000" dirty="0" smtClean="0"/>
                        <a:t>2</a:t>
                      </a:r>
                      <a:endParaRPr lang="uk-UA" sz="2000" i="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+5Cl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+6H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O=2HBrO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+10HCl</a:t>
                      </a:r>
                      <a:endParaRPr kumimoji="0" lang="uk-UA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+5Cl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+6H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O=2HIO</a:t>
                      </a:r>
                      <a:r>
                        <a:rPr kumimoji="0" lang="en-US" sz="20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+10HCl</a:t>
                      </a:r>
                      <a:endParaRPr kumimoji="0" lang="uk-UA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uk-UA" sz="2400" b="1" dirty="0" smtClean="0"/>
                        <a:t>Самоокиснення-самовідновлення</a:t>
                      </a:r>
                      <a:endParaRPr lang="uk-UA" sz="2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uk-UA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uk-UA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+H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=</a:t>
                      </a:r>
                      <a:r>
                        <a:rPr kumimoji="0" lang="en-US" sz="2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HClO+HCl</a:t>
                      </a:r>
                      <a:endParaRPr lang="uk-UA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uk-UA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+H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=</a:t>
                      </a:r>
                      <a:r>
                        <a:rPr kumimoji="0" lang="en-US" sz="2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HBrO+HBr</a:t>
                      </a:r>
                      <a:endParaRPr kumimoji="0" lang="uk-UA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+H</a:t>
                      </a:r>
                      <a:r>
                        <a:rPr kumimoji="0" lang="en-US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=HIO+HI</a:t>
                      </a:r>
                      <a:endParaRPr lang="uk-UA" sz="2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89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-92546"/>
            <a:ext cx="7869890" cy="749057"/>
          </a:xfrm>
        </p:spPr>
        <p:txBody>
          <a:bodyPr/>
          <a:lstStyle/>
          <a:p>
            <a:pPr algn="ctr"/>
            <a:r>
              <a:rPr lang="ru-RU" dirty="0" err="1" smtClean="0"/>
              <a:t>Добування</a:t>
            </a:r>
            <a:endParaRPr lang="uk-UA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1003598"/>
            <a:ext cx="4032448" cy="1280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1003598"/>
            <a:ext cx="4032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Cl</a:t>
            </a:r>
            <a:r>
              <a:rPr lang="en-US" sz="2400" b="1" baseline="-25000" dirty="0" smtClean="0"/>
              <a:t>2</a:t>
            </a:r>
            <a:r>
              <a:rPr lang="ru-RU" sz="2400" baseline="-25000" dirty="0" smtClean="0"/>
              <a:t> </a:t>
            </a:r>
            <a:r>
              <a:rPr lang="ru-RU" sz="2400" dirty="0" smtClean="0"/>
              <a:t>в </a:t>
            </a:r>
            <a:r>
              <a:rPr lang="ru-RU" sz="2400" dirty="0" err="1" smtClean="0"/>
              <a:t>промисловост</a:t>
            </a:r>
            <a:r>
              <a:rPr lang="uk-UA" sz="2400" dirty="0" smtClean="0"/>
              <a:t>і – </a:t>
            </a:r>
            <a:endParaRPr lang="en-US" sz="2400" dirty="0" smtClean="0"/>
          </a:p>
          <a:p>
            <a:pPr algn="ctr"/>
            <a:r>
              <a:rPr lang="uk-UA" sz="2400" dirty="0" smtClean="0"/>
              <a:t>електроліз водного р</a:t>
            </a:r>
            <a:r>
              <a:rPr lang="en-US" sz="2400" dirty="0" smtClean="0"/>
              <a:t>-</a:t>
            </a:r>
            <a:r>
              <a:rPr lang="uk-UA" sz="2400" dirty="0" smtClean="0"/>
              <a:t>ну </a:t>
            </a:r>
            <a:r>
              <a:rPr lang="en-US" sz="2400" dirty="0" err="1" smtClean="0"/>
              <a:t>NaCl</a:t>
            </a:r>
            <a:endParaRPr lang="uk-UA" sz="2400" dirty="0" smtClean="0"/>
          </a:p>
          <a:p>
            <a:pPr algn="ctr"/>
            <a:r>
              <a:rPr lang="en-US" sz="2400" dirty="0" smtClean="0"/>
              <a:t>2NaCl+2</a:t>
            </a:r>
            <a:r>
              <a:rPr lang="en-US" sz="2400" dirty="0" smtClean="0">
                <a:solidFill>
                  <a:prstClr val="black"/>
                </a:solidFill>
              </a:rPr>
              <a:t>H</a:t>
            </a:r>
            <a:r>
              <a:rPr lang="en-US" sz="2400" baseline="-25000" dirty="0" smtClean="0">
                <a:solidFill>
                  <a:prstClr val="black"/>
                </a:solidFill>
              </a:rPr>
              <a:t>2</a:t>
            </a:r>
            <a:r>
              <a:rPr lang="en-US" sz="2400" dirty="0" smtClean="0">
                <a:solidFill>
                  <a:prstClr val="black"/>
                </a:solidFill>
              </a:rPr>
              <a:t>O = H</a:t>
            </a:r>
            <a:r>
              <a:rPr lang="en-US" sz="2400" baseline="-25000" dirty="0" smtClean="0">
                <a:solidFill>
                  <a:prstClr val="black"/>
                </a:solidFill>
              </a:rPr>
              <a:t>2</a:t>
            </a:r>
            <a:r>
              <a:rPr lang="en-US" sz="2400" dirty="0" smtClean="0">
                <a:solidFill>
                  <a:prstClr val="black"/>
                </a:solidFill>
              </a:rPr>
              <a:t>+Cl</a:t>
            </a:r>
            <a:r>
              <a:rPr lang="en-US" sz="2400" baseline="-25000" dirty="0" smtClean="0">
                <a:solidFill>
                  <a:prstClr val="black"/>
                </a:solidFill>
              </a:rPr>
              <a:t>2</a:t>
            </a:r>
            <a:r>
              <a:rPr lang="en-US" sz="2400" dirty="0" smtClean="0">
                <a:solidFill>
                  <a:prstClr val="black"/>
                </a:solidFill>
              </a:rPr>
              <a:t>+2NaOH</a:t>
            </a:r>
            <a:endParaRPr lang="uk-UA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39" y="991493"/>
            <a:ext cx="4041775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932039" y="1000641"/>
            <a:ext cx="4032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Cl</a:t>
            </a:r>
            <a:r>
              <a:rPr lang="en-US" sz="2400" b="1" baseline="-25000" dirty="0"/>
              <a:t>2</a:t>
            </a:r>
            <a:r>
              <a:rPr lang="ru-RU" sz="2400" baseline="-25000" dirty="0"/>
              <a:t> </a:t>
            </a:r>
            <a:r>
              <a:rPr lang="ru-RU" sz="2400" dirty="0" smtClean="0"/>
              <a:t>в</a:t>
            </a:r>
            <a:r>
              <a:rPr lang="en-US" sz="2400" dirty="0" smtClean="0"/>
              <a:t> </a:t>
            </a:r>
            <a:r>
              <a:rPr lang="uk-UA" sz="2400" dirty="0" smtClean="0"/>
              <a:t>лабораторії</a:t>
            </a:r>
            <a:r>
              <a:rPr lang="ru-RU" sz="2400" dirty="0" smtClean="0"/>
              <a:t> </a:t>
            </a:r>
            <a:r>
              <a:rPr lang="uk-UA" sz="2400" dirty="0" smtClean="0"/>
              <a:t>– </a:t>
            </a:r>
            <a:endParaRPr lang="uk-UA" sz="2400" dirty="0"/>
          </a:p>
          <a:p>
            <a:pPr algn="ctr"/>
            <a:r>
              <a:rPr lang="uk-UA" sz="2400" dirty="0" smtClean="0"/>
              <a:t>дія сильних окисників на </a:t>
            </a:r>
            <a:r>
              <a:rPr lang="en-US" sz="2400" dirty="0" smtClean="0"/>
              <a:t>HCl</a:t>
            </a:r>
          </a:p>
          <a:p>
            <a:pPr algn="ctr"/>
            <a:r>
              <a:rPr lang="en-US" sz="2400" dirty="0" smtClean="0"/>
              <a:t>MnO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+4HCl = MnCl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+Cl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+2H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</a:t>
            </a:r>
            <a:endParaRPr lang="en-US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997095" y="2712808"/>
            <a:ext cx="7437842" cy="2235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1255891" y="2633682"/>
            <a:ext cx="7200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Br</a:t>
            </a:r>
            <a:r>
              <a:rPr lang="en-US" sz="2400" b="1" baseline="-25000" dirty="0" smtClean="0"/>
              <a:t>2</a:t>
            </a:r>
            <a:r>
              <a:rPr lang="uk-UA" sz="2400" baseline="-25000" dirty="0" smtClean="0"/>
              <a:t> </a:t>
            </a:r>
            <a:r>
              <a:rPr lang="uk-UA" sz="2400" dirty="0" smtClean="0"/>
              <a:t>і </a:t>
            </a:r>
            <a:r>
              <a:rPr lang="en-US" sz="2400" b="1" dirty="0" smtClean="0"/>
              <a:t>I</a:t>
            </a:r>
            <a:r>
              <a:rPr lang="en-US" sz="2400" b="1" baseline="-25000" dirty="0" smtClean="0"/>
              <a:t>2</a:t>
            </a:r>
            <a:r>
              <a:rPr lang="uk-UA" sz="2400" dirty="0"/>
              <a:t> </a:t>
            </a:r>
            <a:r>
              <a:rPr lang="uk-UA" sz="2400" dirty="0" smtClean="0"/>
              <a:t>в лабораторії і в промисловості добувають із солей дією окисників</a:t>
            </a:r>
          </a:p>
          <a:p>
            <a:pPr algn="ctr"/>
            <a:r>
              <a:rPr lang="en-US" sz="2400" dirty="0" smtClean="0"/>
              <a:t>6KI+K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Cr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</a:t>
            </a:r>
            <a:r>
              <a:rPr lang="en-US" sz="2400" baseline="-25000" dirty="0" smtClean="0"/>
              <a:t>7</a:t>
            </a:r>
            <a:r>
              <a:rPr lang="en-US" sz="2400" dirty="0" smtClean="0"/>
              <a:t>+7H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SO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=3I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+4K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SO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+Cr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(SO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)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+7H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</a:t>
            </a:r>
          </a:p>
          <a:p>
            <a:pPr algn="ctr"/>
            <a:endParaRPr lang="en-US" sz="1050" dirty="0" smtClean="0"/>
          </a:p>
          <a:p>
            <a:pPr algn="ctr"/>
            <a:r>
              <a:rPr lang="en-US" sz="2400" dirty="0" smtClean="0"/>
              <a:t>6KBr+K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Cr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</a:t>
            </a:r>
            <a:r>
              <a:rPr lang="en-US" sz="2400" baseline="-25000" dirty="0" smtClean="0"/>
              <a:t>7</a:t>
            </a:r>
            <a:r>
              <a:rPr lang="en-US" sz="2400" dirty="0" smtClean="0"/>
              <a:t>+7H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SO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=3Br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+4K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SO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+Cr(SO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)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+7H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</a:t>
            </a:r>
          </a:p>
          <a:p>
            <a:pPr algn="ctr"/>
            <a:endParaRPr lang="en-US" sz="1000" dirty="0" smtClean="0"/>
          </a:p>
          <a:p>
            <a:pPr algn="ctr"/>
            <a:r>
              <a:rPr lang="en-US" sz="2400" dirty="0" smtClean="0"/>
              <a:t>2KBr+Cl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=Br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+2KCl</a:t>
            </a:r>
            <a:r>
              <a:rPr lang="uk-UA" sz="2400" dirty="0" smtClean="0"/>
              <a:t> ; </a:t>
            </a:r>
            <a:r>
              <a:rPr lang="en-US" sz="2400" dirty="0" smtClean="0"/>
              <a:t>2KI+Cl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=I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+2KCl</a:t>
            </a:r>
            <a:endParaRPr lang="uk-UA" sz="2400" dirty="0"/>
          </a:p>
          <a:p>
            <a:pPr algn="ctr"/>
            <a:endParaRPr lang="uk-UA" sz="2400" dirty="0" smtClean="0"/>
          </a:p>
          <a:p>
            <a:pPr algn="ctr"/>
            <a:endParaRPr lang="uk-UA" sz="2400" dirty="0"/>
          </a:p>
          <a:p>
            <a:pPr algn="ctr"/>
            <a:endParaRPr lang="en-US" sz="2400" dirty="0" smtClean="0"/>
          </a:p>
        </p:txBody>
      </p:sp>
      <p:cxnSp>
        <p:nvCxnSpPr>
          <p:cNvPr id="4" name="Прямая со стрелкой 3"/>
          <p:cNvCxnSpPr/>
          <p:nvPr/>
        </p:nvCxnSpPr>
        <p:spPr>
          <a:xfrm flipH="1">
            <a:off x="2195736" y="411510"/>
            <a:ext cx="1152128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5868144" y="411510"/>
            <a:ext cx="1152128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4716016" y="483518"/>
            <a:ext cx="0" cy="216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18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3708410" y="3359795"/>
            <a:ext cx="2552777" cy="1506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угольник 7"/>
          <p:cNvSpPr/>
          <p:nvPr/>
        </p:nvSpPr>
        <p:spPr>
          <a:xfrm>
            <a:off x="5670622" y="1057559"/>
            <a:ext cx="3362871" cy="22570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059582"/>
            <a:ext cx="2952328" cy="26390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Блок-схема: узел 5"/>
          <p:cNvSpPr/>
          <p:nvPr/>
        </p:nvSpPr>
        <p:spPr>
          <a:xfrm>
            <a:off x="539377" y="555526"/>
            <a:ext cx="720255" cy="62393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-49515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Застосування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06871" y="519729"/>
            <a:ext cx="295232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Cl</a:t>
            </a:r>
            <a:r>
              <a:rPr lang="en-US" sz="3200" b="1" baseline="-25000" dirty="0" smtClean="0">
                <a:solidFill>
                  <a:schemeClr val="bg1"/>
                </a:solidFill>
              </a:rPr>
              <a:t>2</a:t>
            </a:r>
            <a:endParaRPr lang="uk-UA" sz="2400" b="1" baseline="-25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/>
              <a:t>в</a:t>
            </a:r>
            <a:r>
              <a:rPr lang="uk-UA" sz="2400" dirty="0" smtClean="0"/>
              <a:t>ідбілювання тканин, паперу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err="1"/>
              <a:t>д</a:t>
            </a:r>
            <a:r>
              <a:rPr lang="uk-UA" sz="2400" dirty="0" err="1" smtClean="0"/>
              <a:t>езінфікція</a:t>
            </a:r>
            <a:r>
              <a:rPr lang="uk-UA" sz="2400" dirty="0" smtClean="0"/>
              <a:t> води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виробництво </a:t>
            </a:r>
            <a:r>
              <a:rPr lang="en-US" sz="2400" dirty="0" smtClean="0"/>
              <a:t>HCl </a:t>
            </a:r>
            <a:endParaRPr lang="uk-UA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/>
              <a:t>о</a:t>
            </a:r>
            <a:r>
              <a:rPr lang="uk-UA" sz="2400" dirty="0" smtClean="0"/>
              <a:t>рганічний синтез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окисник в різних галузях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295" y="2801942"/>
            <a:ext cx="781697" cy="651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746543" y="2804636"/>
            <a:ext cx="2586477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Br</a:t>
            </a:r>
            <a:r>
              <a:rPr lang="en-US" sz="3200" b="1" baseline="-25000" dirty="0" smtClean="0">
                <a:solidFill>
                  <a:schemeClr val="bg1"/>
                </a:solidFill>
              </a:rPr>
              <a:t>2</a:t>
            </a:r>
            <a:endParaRPr lang="uk-UA" sz="3200" b="1" baseline="-25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err="1"/>
              <a:t>б</a:t>
            </a:r>
            <a:r>
              <a:rPr lang="uk-UA" sz="2400" dirty="0" err="1" smtClean="0"/>
              <a:t>ромометрія</a:t>
            </a:r>
            <a:endParaRPr lang="uk-UA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хімічний</a:t>
            </a:r>
            <a:r>
              <a:rPr lang="en-US" sz="2400" dirty="0" smtClean="0"/>
              <a:t> </a:t>
            </a:r>
            <a:r>
              <a:rPr lang="uk-UA" sz="2400" dirty="0" smtClean="0"/>
              <a:t>синтез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err="1" smtClean="0"/>
              <a:t>фотосправа</a:t>
            </a:r>
            <a:endParaRPr lang="uk-UA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медицина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279" y="581734"/>
            <a:ext cx="752908" cy="62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715072" y="555526"/>
            <a:ext cx="334439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</a:t>
            </a:r>
            <a:r>
              <a:rPr lang="en-US" sz="3200" b="1" baseline="-25000" dirty="0">
                <a:solidFill>
                  <a:schemeClr val="bg1"/>
                </a:solidFill>
              </a:rPr>
              <a:t>2</a:t>
            </a:r>
            <a:r>
              <a:rPr lang="uk-UA" sz="2400" dirty="0"/>
              <a:t> </a:t>
            </a:r>
            <a:endParaRPr lang="uk-UA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йодометрія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окисник в синтезах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медицина – спиртові розчини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/>
              <a:t>д</a:t>
            </a:r>
            <a:r>
              <a:rPr lang="uk-UA" sz="2400" dirty="0" smtClean="0"/>
              <a:t>обування високочистих металів</a:t>
            </a:r>
          </a:p>
        </p:txBody>
      </p:sp>
    </p:spTree>
    <p:extLst>
      <p:ext uri="{BB962C8B-B14F-4D97-AF65-F5344CB8AC3E}">
        <p14:creationId xmlns:p14="http://schemas.microsoft.com/office/powerpoint/2010/main" val="177288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031" y="555526"/>
            <a:ext cx="3156123" cy="219323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-7660"/>
            <a:ext cx="8784976" cy="749057"/>
          </a:xfrm>
        </p:spPr>
        <p:txBody>
          <a:bodyPr>
            <a:normAutofit fontScale="90000"/>
          </a:bodyPr>
          <a:lstStyle/>
          <a:p>
            <a:pPr algn="ctr"/>
            <a:r>
              <a:rPr lang="uk-UA" dirty="0" smtClean="0"/>
              <a:t>Застосування </a:t>
            </a:r>
            <a:r>
              <a:rPr lang="en-US" dirty="0" smtClean="0"/>
              <a:t>Cl, Br, I </a:t>
            </a:r>
            <a:r>
              <a:rPr lang="uk-UA" dirty="0" smtClean="0"/>
              <a:t> в </a:t>
            </a:r>
            <a:r>
              <a:rPr lang="uk-UA" dirty="0" err="1" smtClean="0"/>
              <a:t>супрамолекулярній</a:t>
            </a:r>
            <a:r>
              <a:rPr lang="uk-UA" dirty="0" smtClean="0"/>
              <a:t> хімії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82" y="555526"/>
            <a:ext cx="2836695" cy="248433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3666"/>
            <a:ext cx="2836694" cy="210983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64" y="2643758"/>
            <a:ext cx="3169936" cy="257978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695" y="1681287"/>
            <a:ext cx="3117606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6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0"/>
            <a:ext cx="7869890" cy="749057"/>
          </a:xfrm>
        </p:spPr>
        <p:txBody>
          <a:bodyPr>
            <a:normAutofit fontScale="90000"/>
          </a:bodyPr>
          <a:lstStyle/>
          <a:p>
            <a:pPr algn="ctr"/>
            <a:r>
              <a:rPr lang="uk-UA" dirty="0" smtClean="0"/>
              <a:t>Сполуки</a:t>
            </a:r>
            <a:r>
              <a:rPr lang="ru-RU" dirty="0" smtClean="0"/>
              <a:t> </a:t>
            </a:r>
            <a:r>
              <a:rPr lang="uk-UA" dirty="0" err="1" smtClean="0"/>
              <a:t>Хлору,Брому,Йоду</a:t>
            </a:r>
            <a:r>
              <a:rPr lang="uk-UA" dirty="0" smtClean="0"/>
              <a:t> </a:t>
            </a:r>
            <a:r>
              <a:rPr lang="ru-RU" dirty="0" smtClean="0"/>
              <a:t>в </a:t>
            </a:r>
            <a:r>
              <a:rPr lang="ru-RU" dirty="0" err="1" smtClean="0"/>
              <a:t>ст.ок</a:t>
            </a:r>
            <a:r>
              <a:rPr lang="ru-RU" dirty="0" smtClean="0"/>
              <a:t>. </a:t>
            </a:r>
            <a:r>
              <a:rPr lang="ru-RU" dirty="0"/>
              <a:t>-</a:t>
            </a:r>
            <a:r>
              <a:rPr lang="ru-RU" dirty="0" smtClean="0"/>
              <a:t>1 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33494" y="722354"/>
            <a:ext cx="248156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 smtClean="0"/>
              <a:t>Будова молекул</a:t>
            </a:r>
          </a:p>
          <a:p>
            <a:pPr algn="ctr"/>
            <a:endParaRPr lang="en-US" sz="1000" b="1" dirty="0" smtClean="0"/>
          </a:p>
          <a:p>
            <a:pPr algn="ctr"/>
            <a:r>
              <a:rPr lang="uk-UA" sz="2400" dirty="0" smtClean="0"/>
              <a:t>Галогеніди </a:t>
            </a:r>
            <a:r>
              <a:rPr lang="en-US" sz="2400" dirty="0" err="1" smtClean="0"/>
              <a:t>EHal</a:t>
            </a:r>
            <a:endParaRPr lang="uk-UA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01872" y="1696112"/>
            <a:ext cx="27314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H-&gt;</a:t>
            </a:r>
            <a:r>
              <a:rPr lang="en-US" sz="2400" b="1" dirty="0" err="1" smtClean="0"/>
              <a:t>Cl</a:t>
            </a:r>
            <a:r>
              <a:rPr lang="en-US" sz="2400" b="1" dirty="0" smtClean="0"/>
              <a:t>    H-&gt;Br    H-&gt;I</a:t>
            </a:r>
            <a:endParaRPr lang="uk-UA" sz="24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89016" y="2571750"/>
            <a:ext cx="27572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000" i="1" dirty="0"/>
              <a:t>ковалентний </a:t>
            </a:r>
            <a:r>
              <a:rPr lang="uk-UA" sz="2000" i="1" dirty="0" smtClean="0"/>
              <a:t>полярний зв'язок, молекули полярні</a:t>
            </a:r>
            <a:r>
              <a:rPr lang="ru-RU" sz="2000" i="1" dirty="0" smtClean="0"/>
              <a:t> </a:t>
            </a:r>
            <a:endParaRPr lang="uk-UA" sz="2000" i="1" dirty="0"/>
          </a:p>
        </p:txBody>
      </p:sp>
      <p:sp>
        <p:nvSpPr>
          <p:cNvPr id="8" name="Правая фигурная скобка 7"/>
          <p:cNvSpPr/>
          <p:nvPr/>
        </p:nvSpPr>
        <p:spPr>
          <a:xfrm rot="5400000">
            <a:off x="1931635" y="1005202"/>
            <a:ext cx="360040" cy="2613189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628406" y="3704431"/>
            <a:ext cx="3203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628406" y="3877185"/>
            <a:ext cx="32031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i="1" dirty="0"/>
              <a:t>d</a:t>
            </a:r>
            <a:r>
              <a:rPr lang="uk-UA" sz="2400" i="1" dirty="0" smtClean="0"/>
              <a:t> зв.</a:t>
            </a:r>
            <a:r>
              <a:rPr lang="uk-UA" sz="2400" i="1" baseline="-25000" dirty="0" smtClean="0"/>
              <a:t>(</a:t>
            </a:r>
            <a:r>
              <a:rPr lang="en-US" sz="2400" i="1" baseline="-25000" dirty="0" smtClean="0"/>
              <a:t>H-Hal</a:t>
            </a:r>
            <a:r>
              <a:rPr lang="uk-UA" sz="2400" i="1" baseline="-25000" dirty="0" smtClean="0"/>
              <a:t>)</a:t>
            </a:r>
            <a:r>
              <a:rPr lang="uk-UA" sz="2400" dirty="0" smtClean="0">
                <a:sym typeface="Symbol"/>
              </a:rPr>
              <a:t></a:t>
            </a:r>
            <a:r>
              <a:rPr lang="uk-UA" sz="2400" i="1" dirty="0" smtClean="0">
                <a:sym typeface="Symbol"/>
              </a:rPr>
              <a:t>, </a:t>
            </a:r>
            <a:r>
              <a:rPr lang="uk-UA" sz="2400" i="1" dirty="0" err="1" smtClean="0">
                <a:sym typeface="Symbol"/>
              </a:rPr>
              <a:t>стійкість</a:t>
            </a:r>
            <a:r>
              <a:rPr lang="uk-UA" sz="2400" dirty="0" err="1" smtClean="0">
                <a:sym typeface="Symbol"/>
              </a:rPr>
              <a:t></a:t>
            </a:r>
            <a:endParaRPr lang="uk-UA" sz="2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076056" y="722354"/>
            <a:ext cx="2774799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k-UA" sz="2400" b="1" dirty="0" smtClean="0"/>
              <a:t>Фізичні властивості</a:t>
            </a:r>
            <a:endParaRPr lang="en-US" sz="2400" b="1" dirty="0"/>
          </a:p>
          <a:p>
            <a:pPr algn="ctr"/>
            <a:endParaRPr lang="en-US" sz="1000" b="1" dirty="0" smtClean="0"/>
          </a:p>
          <a:p>
            <a:pPr algn="ctr"/>
            <a:r>
              <a:rPr lang="en-US" sz="2800" dirty="0" smtClean="0"/>
              <a:t>HCl    </a:t>
            </a:r>
            <a:r>
              <a:rPr lang="en-US" sz="2800" dirty="0" err="1" smtClean="0"/>
              <a:t>HBr</a:t>
            </a:r>
            <a:r>
              <a:rPr lang="en-US" sz="2800" dirty="0" smtClean="0"/>
              <a:t>    H</a:t>
            </a:r>
            <a:r>
              <a:rPr lang="en-US" sz="2800" dirty="0"/>
              <a:t>I</a:t>
            </a:r>
            <a:endParaRPr lang="uk-UA" sz="2800" dirty="0"/>
          </a:p>
        </p:txBody>
      </p:sp>
      <p:sp>
        <p:nvSpPr>
          <p:cNvPr id="13" name="Правая фигурная скобка 12"/>
          <p:cNvSpPr/>
          <p:nvPr/>
        </p:nvSpPr>
        <p:spPr>
          <a:xfrm rot="5400000">
            <a:off x="6298463" y="570212"/>
            <a:ext cx="360040" cy="2397165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Прямоугольник 14"/>
          <p:cNvSpPr/>
          <p:nvPr/>
        </p:nvSpPr>
        <p:spPr>
          <a:xfrm>
            <a:off x="4245090" y="1931766"/>
            <a:ext cx="46828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i="1" dirty="0" smtClean="0"/>
              <a:t>Гази, безбарвні, важчі за повітря,</a:t>
            </a:r>
          </a:p>
          <a:p>
            <a:pPr algn="ctr"/>
            <a:r>
              <a:rPr lang="uk-UA" sz="2400" i="1" dirty="0"/>
              <a:t>д</a:t>
            </a:r>
            <a:r>
              <a:rPr lang="uk-UA" sz="2400" i="1" dirty="0" smtClean="0"/>
              <a:t>обре розчинні у воді</a:t>
            </a:r>
            <a:endParaRPr lang="uk-UA" sz="24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351955" y="298724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uk-UA" sz="2400" b="1" dirty="0" smtClean="0"/>
              <a:t>Хімічні властивості</a:t>
            </a:r>
            <a:endParaRPr lang="en-US" sz="2400" b="1" dirty="0" smtClean="0"/>
          </a:p>
          <a:p>
            <a:pPr algn="ctr"/>
            <a:endParaRPr lang="uk-UA" sz="2400" dirty="0"/>
          </a:p>
          <a:p>
            <a:pPr algn="ctr"/>
            <a:r>
              <a:rPr lang="en-US" sz="2400" dirty="0" smtClean="0"/>
              <a:t>N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H</a:t>
            </a:r>
            <a:r>
              <a:rPr lang="en-US" sz="2400" dirty="0" smtClean="0">
                <a:sym typeface="Symbol"/>
              </a:rPr>
              <a:t></a:t>
            </a:r>
            <a:r>
              <a:rPr lang="en-US" sz="2400" dirty="0" smtClean="0"/>
              <a:t>+</a:t>
            </a:r>
            <a:r>
              <a:rPr lang="en-US" sz="2400" dirty="0" smtClean="0">
                <a:sym typeface="Symbol"/>
              </a:rPr>
              <a:t></a:t>
            </a:r>
            <a:r>
              <a:rPr lang="en-US" sz="2400" dirty="0" smtClean="0"/>
              <a:t>HCl</a:t>
            </a:r>
            <a:r>
              <a:rPr lang="en-US" sz="2400" baseline="-25000" dirty="0" smtClean="0"/>
              <a:t>(</a:t>
            </a:r>
            <a:r>
              <a:rPr lang="uk-UA" sz="2400" baseline="-25000" dirty="0" smtClean="0"/>
              <a:t>г</a:t>
            </a:r>
            <a:r>
              <a:rPr lang="en-US" sz="2400" baseline="-25000" dirty="0" smtClean="0"/>
              <a:t>)</a:t>
            </a:r>
            <a:r>
              <a:rPr lang="en-US" sz="2400" dirty="0" smtClean="0"/>
              <a:t>=NH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Cl</a:t>
            </a:r>
            <a:endParaRPr lang="en-US" sz="2400" dirty="0"/>
          </a:p>
        </p:txBody>
      </p:sp>
      <p:cxnSp>
        <p:nvCxnSpPr>
          <p:cNvPr id="24" name="Соединительная линия уступом 23"/>
          <p:cNvCxnSpPr/>
          <p:nvPr/>
        </p:nvCxnSpPr>
        <p:spPr>
          <a:xfrm rot="10800000" flipV="1">
            <a:off x="5868145" y="4108017"/>
            <a:ext cx="595311" cy="79560"/>
          </a:xfrm>
          <a:prstGeom prst="bentConnector3">
            <a:avLst>
              <a:gd name="adj1" fmla="val 52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35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6492" y="0"/>
            <a:ext cx="7797882" cy="749057"/>
          </a:xfrm>
        </p:spPr>
        <p:txBody>
          <a:bodyPr>
            <a:normAutofit fontScale="90000"/>
          </a:bodyPr>
          <a:lstStyle/>
          <a:p>
            <a:pPr algn="ctr"/>
            <a:r>
              <a:rPr lang="uk-UA" u="sng" dirty="0" smtClean="0"/>
              <a:t>Водні розчини </a:t>
            </a:r>
            <a:r>
              <a:rPr lang="uk-UA" u="sng" dirty="0" err="1" smtClean="0"/>
              <a:t>галогенідів</a:t>
            </a:r>
            <a:r>
              <a:rPr lang="uk-UA" u="sng" dirty="0" smtClean="0"/>
              <a:t> - кислоти</a:t>
            </a:r>
            <a:endParaRPr lang="uk-UA" u="sng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2996" y="2443982"/>
            <a:ext cx="302433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/>
              <a:t>Фізичні </a:t>
            </a:r>
            <a:r>
              <a:rPr lang="uk-UA" sz="2400" b="1" dirty="0" smtClean="0"/>
              <a:t>властивості</a:t>
            </a:r>
          </a:p>
          <a:p>
            <a:pPr algn="ctr"/>
            <a:endParaRPr lang="uk-UA" sz="2400" b="1" dirty="0" smtClean="0"/>
          </a:p>
          <a:p>
            <a:pPr algn="ctr"/>
            <a:endParaRPr lang="uk-UA" sz="2000" b="1" dirty="0" smtClean="0"/>
          </a:p>
          <a:p>
            <a:pPr algn="ctr"/>
            <a:r>
              <a:rPr lang="uk-UA" sz="2400" b="1" dirty="0"/>
              <a:t>Хімічні </a:t>
            </a:r>
            <a:r>
              <a:rPr lang="uk-UA" sz="2400" b="1" dirty="0" smtClean="0"/>
              <a:t>властивості</a:t>
            </a:r>
            <a:endParaRPr lang="en-US" sz="2400" b="1" dirty="0"/>
          </a:p>
        </p:txBody>
      </p:sp>
      <p:sp>
        <p:nvSpPr>
          <p:cNvPr id="5" name="Правая фигурная скобка 4"/>
          <p:cNvSpPr/>
          <p:nvPr/>
        </p:nvSpPr>
        <p:spPr>
          <a:xfrm rot="5400000">
            <a:off x="4057742" y="-775765"/>
            <a:ext cx="504056" cy="5812244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угольник 5"/>
          <p:cNvSpPr/>
          <p:nvPr/>
        </p:nvSpPr>
        <p:spPr>
          <a:xfrm>
            <a:off x="3707904" y="2458615"/>
            <a:ext cx="525658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i="1" dirty="0" smtClean="0"/>
              <a:t>Безбарвні рідини, димлять на повітрі</a:t>
            </a:r>
          </a:p>
          <a:p>
            <a:pPr algn="ctr"/>
            <a:endParaRPr lang="uk-UA" sz="2400" i="1" dirty="0"/>
          </a:p>
          <a:p>
            <a:pPr algn="ctr"/>
            <a:endParaRPr lang="uk-UA" sz="2000" i="1" dirty="0" smtClean="0"/>
          </a:p>
          <a:p>
            <a:pPr algn="ctr"/>
            <a:r>
              <a:rPr lang="uk-UA" sz="3200" b="1" dirty="0" smtClean="0"/>
              <a:t>     </a:t>
            </a:r>
            <a:r>
              <a:rPr lang="en-US" sz="3200" b="1" dirty="0" smtClean="0"/>
              <a:t>H</a:t>
            </a:r>
            <a:r>
              <a:rPr lang="en-US" sz="3200" b="1" baseline="30000" dirty="0" smtClean="0"/>
              <a:t>+</a:t>
            </a:r>
            <a:r>
              <a:rPr lang="uk-UA" sz="3200" b="1" baseline="30000" dirty="0"/>
              <a:t> </a:t>
            </a:r>
            <a:r>
              <a:rPr lang="uk-UA" sz="3200" b="1" dirty="0" smtClean="0"/>
              <a:t>  </a:t>
            </a:r>
            <a:r>
              <a:rPr lang="en-US" sz="3200" b="1" dirty="0" smtClean="0"/>
              <a:t>Hal</a:t>
            </a:r>
            <a:r>
              <a:rPr lang="en-US" sz="3200" b="1" baseline="30000" dirty="0" smtClean="0"/>
              <a:t>-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82572" y="3952087"/>
            <a:ext cx="149912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uk-UA" sz="2400" i="1" dirty="0" smtClean="0"/>
              <a:t>Кислотні </a:t>
            </a:r>
            <a:br>
              <a:rPr lang="uk-UA" sz="2400" i="1" dirty="0" smtClean="0"/>
            </a:br>
            <a:r>
              <a:rPr lang="uk-UA" sz="2400" i="1" dirty="0" smtClean="0"/>
              <a:t>Окисні</a:t>
            </a:r>
            <a:r>
              <a:rPr lang="uk-UA" i="1" dirty="0" smtClean="0"/>
              <a:t> </a:t>
            </a:r>
            <a:endParaRPr lang="uk-UA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588224" y="4028317"/>
            <a:ext cx="13035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i="1" dirty="0" smtClean="0"/>
              <a:t>Відновні</a:t>
            </a:r>
            <a:endParaRPr lang="uk-UA" sz="2400" i="1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6393586" y="3291830"/>
            <a:ext cx="0" cy="158417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755576" y="3942956"/>
            <a:ext cx="37444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HCl  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sym typeface="Symbol"/>
              </a:rPr>
              <a:t>HBr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   HI</a:t>
            </a:r>
            <a:endParaRPr lang="uk-UA" sz="3200" b="1" dirty="0">
              <a:solidFill>
                <a:schemeClr val="accent1">
                  <a:lumMod val="75000"/>
                </a:schemeClr>
              </a:solidFill>
              <a:sym typeface="Symbol"/>
            </a:endParaRPr>
          </a:p>
          <a:p>
            <a:pPr algn="ctr"/>
            <a:r>
              <a:rPr lang="uk-UA" sz="3200" b="1" dirty="0">
                <a:solidFill>
                  <a:schemeClr val="accent1">
                    <a:lumMod val="75000"/>
                  </a:schemeClr>
                </a:solidFill>
              </a:rPr>
              <a:t>с</a:t>
            </a:r>
            <a:r>
              <a:rPr lang="uk-UA" sz="3200" b="1" dirty="0" smtClean="0">
                <a:solidFill>
                  <a:schemeClr val="accent1">
                    <a:lumMod val="75000"/>
                  </a:schemeClr>
                </a:solidFill>
              </a:rPr>
              <a:t>ила к-т </a:t>
            </a:r>
            <a:r>
              <a:rPr lang="uk-UA" sz="3200" b="1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</a:t>
            </a:r>
            <a:endParaRPr lang="uk-UA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1259632" y="4527732"/>
            <a:ext cx="28083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7454" y="674538"/>
            <a:ext cx="16594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 smtClean="0"/>
              <a:t>HCl</a:t>
            </a:r>
            <a:r>
              <a:rPr lang="uk-UA" sz="2800" dirty="0"/>
              <a:t> </a:t>
            </a:r>
            <a:endParaRPr lang="uk-UA" sz="2800" dirty="0" smtClean="0"/>
          </a:p>
          <a:p>
            <a:pPr algn="ctr"/>
            <a:r>
              <a:rPr lang="uk-UA" sz="2800" dirty="0" err="1" smtClean="0"/>
              <a:t>хлоридна</a:t>
            </a:r>
            <a:endParaRPr lang="uk-UA" sz="2800" dirty="0" smtClean="0"/>
          </a:p>
          <a:p>
            <a:pPr algn="ctr"/>
            <a:r>
              <a:rPr lang="uk-UA" sz="2800" dirty="0"/>
              <a:t>кислота</a:t>
            </a:r>
            <a:endParaRPr lang="ru-RU" sz="2800" dirty="0"/>
          </a:p>
          <a:p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3645494" y="637921"/>
            <a:ext cx="16417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 smtClean="0"/>
              <a:t>HBr</a:t>
            </a:r>
            <a:endParaRPr lang="uk-UA" sz="2800" b="1" dirty="0"/>
          </a:p>
          <a:p>
            <a:pPr algn="ctr"/>
            <a:r>
              <a:rPr lang="uk-UA" sz="2800" dirty="0" err="1"/>
              <a:t>бромідна</a:t>
            </a:r>
            <a:endParaRPr lang="uk-UA" sz="2800" dirty="0" smtClean="0"/>
          </a:p>
          <a:p>
            <a:pPr algn="ctr"/>
            <a:r>
              <a:rPr lang="uk-UA" sz="2800" dirty="0" smtClean="0"/>
              <a:t>кислота</a:t>
            </a:r>
            <a:endParaRPr lang="ru-R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5456500" y="656766"/>
            <a:ext cx="1759392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/>
              <a:t>HI</a:t>
            </a:r>
            <a:r>
              <a:rPr lang="uk-UA" sz="2800" dirty="0" smtClean="0"/>
              <a:t> </a:t>
            </a:r>
          </a:p>
          <a:p>
            <a:pPr algn="ctr"/>
            <a:r>
              <a:rPr lang="uk-UA" sz="2800" dirty="0" err="1" smtClean="0"/>
              <a:t>йодидна</a:t>
            </a:r>
            <a:endParaRPr lang="uk-UA" sz="2800" dirty="0"/>
          </a:p>
          <a:p>
            <a:pPr algn="ctr"/>
            <a:r>
              <a:rPr lang="uk-UA" sz="2800" dirty="0" smtClean="0"/>
              <a:t>кислота</a:t>
            </a:r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314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-92546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Хімічні властивості</a:t>
            </a:r>
            <a:endParaRPr lang="uk-UA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091151"/>
              </p:ext>
            </p:extLst>
          </p:nvPr>
        </p:nvGraphicFramePr>
        <p:xfrm>
          <a:off x="539552" y="2571750"/>
          <a:ext cx="842493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Окисні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Відновні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 err="1" smtClean="0"/>
                        <a:t>Me+H</a:t>
                      </a:r>
                      <a:r>
                        <a:rPr lang="en-US" sz="2400" i="1" baseline="30000" dirty="0" err="1" smtClean="0"/>
                        <a:t>+</a:t>
                      </a:r>
                      <a:r>
                        <a:rPr lang="en-US" sz="2400" i="1" dirty="0" err="1" smtClean="0"/>
                        <a:t>Hal</a:t>
                      </a:r>
                      <a:r>
                        <a:rPr lang="en-US" sz="2400" i="1" dirty="0" smtClean="0"/>
                        <a:t>=MeHal+H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baseline="0" dirty="0" smtClean="0">
                          <a:sym typeface="Symbol"/>
                        </a:rPr>
                        <a:t></a:t>
                      </a:r>
                      <a:endParaRPr lang="uk-UA" sz="2400" i="1" baseline="0" dirty="0" smtClean="0">
                        <a:sym typeface="Symbol"/>
                      </a:endParaRPr>
                    </a:p>
                    <a:p>
                      <a:pPr algn="ctr"/>
                      <a:endParaRPr lang="uk-UA" sz="2400" i="1" baseline="0" dirty="0" smtClean="0">
                        <a:sym typeface="Symbol"/>
                      </a:endParaRPr>
                    </a:p>
                    <a:p>
                      <a:pPr algn="ctr"/>
                      <a:endParaRPr lang="uk-UA" sz="2400" i="1" baseline="0" dirty="0" smtClean="0">
                        <a:sym typeface="Symbol"/>
                      </a:endParaRPr>
                    </a:p>
                    <a:p>
                      <a:pPr algn="ctr"/>
                      <a:r>
                        <a:rPr lang="en-US" sz="240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HCl   </a:t>
                      </a:r>
                      <a:r>
                        <a:rPr lang="en-US" sz="2400" i="0" baseline="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HBr</a:t>
                      </a:r>
                      <a:r>
                        <a:rPr lang="en-US" sz="240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   HI</a:t>
                      </a:r>
                      <a:endParaRPr lang="uk-UA" sz="2400" i="0" baseline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sym typeface="Symbol"/>
                      </a:endParaRPr>
                    </a:p>
                    <a:p>
                      <a:pPr algn="ctr"/>
                      <a:r>
                        <a:rPr lang="uk-UA" sz="240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окисні </a:t>
                      </a:r>
                      <a:r>
                        <a:rPr lang="uk-UA" sz="240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</a:t>
                      </a:r>
                      <a:endParaRPr lang="uk-UA" sz="2400" i="0" baseline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 smtClean="0"/>
                        <a:t>4HCl+MnO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=Cl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+MnCl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+H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O</a:t>
                      </a:r>
                    </a:p>
                    <a:p>
                      <a:pPr algn="ctr"/>
                      <a:r>
                        <a:rPr lang="en-US" sz="2400" i="1" dirty="0" smtClean="0"/>
                        <a:t>2HBr+H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SO</a:t>
                      </a:r>
                      <a:r>
                        <a:rPr lang="en-US" sz="2400" i="1" baseline="-25000" dirty="0" smtClean="0"/>
                        <a:t>4(</a:t>
                      </a:r>
                      <a:r>
                        <a:rPr lang="uk-UA" sz="2400" i="1" baseline="-25000" dirty="0" smtClean="0"/>
                        <a:t>к</a:t>
                      </a:r>
                      <a:r>
                        <a:rPr lang="en-US" sz="2400" i="1" baseline="-25000" dirty="0" smtClean="0"/>
                        <a:t>)</a:t>
                      </a:r>
                      <a:r>
                        <a:rPr lang="en-US" sz="2400" i="1" dirty="0" smtClean="0"/>
                        <a:t>=Br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+SO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+H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/>
                        <a:t>8HI+</a:t>
                      </a:r>
                      <a:r>
                        <a:rPr lang="uk-UA" sz="2400" i="1" dirty="0" smtClean="0"/>
                        <a:t>4</a:t>
                      </a:r>
                      <a:r>
                        <a:rPr lang="en-US" sz="2400" i="1" dirty="0" smtClean="0"/>
                        <a:t>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dirty="0" smtClean="0"/>
                        <a:t>SO</a:t>
                      </a:r>
                      <a:r>
                        <a:rPr lang="en-US" sz="2400" i="1" baseline="-25000" dirty="0" smtClean="0"/>
                        <a:t>4(</a:t>
                      </a:r>
                      <a:r>
                        <a:rPr lang="uk-UA" sz="2400" i="1" baseline="-25000" dirty="0" smtClean="0"/>
                        <a:t>к</a:t>
                      </a:r>
                      <a:r>
                        <a:rPr lang="ru-RU" sz="2400" i="1" baseline="-25000" dirty="0" smtClean="0"/>
                        <a:t>)</a:t>
                      </a:r>
                      <a:r>
                        <a:rPr lang="en-US" sz="2400" i="1" dirty="0" smtClean="0"/>
                        <a:t>=</a:t>
                      </a:r>
                      <a:r>
                        <a:rPr lang="uk-UA" sz="2400" i="1" dirty="0" smtClean="0"/>
                        <a:t>4</a:t>
                      </a:r>
                      <a:r>
                        <a:rPr lang="en-US" sz="2400" i="1" baseline="0" dirty="0" smtClean="0"/>
                        <a:t>I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baseline="0" dirty="0" smtClean="0"/>
                        <a:t>+4H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baseline="0" dirty="0" smtClean="0"/>
                        <a:t>S+4H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baseline="0" dirty="0" smtClean="0"/>
                        <a:t>O</a:t>
                      </a:r>
                    </a:p>
                    <a:p>
                      <a:pPr algn="ctr"/>
                      <a:r>
                        <a:rPr lang="en-US" sz="2400" b="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HCl</a:t>
                      </a:r>
                      <a:r>
                        <a:rPr lang="uk-UA" sz="2400" b="0" i="0" baseline="30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-</a:t>
                      </a:r>
                      <a:r>
                        <a:rPr lang="en-US" sz="2400" b="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   </a:t>
                      </a:r>
                      <a:r>
                        <a:rPr lang="en-US" sz="2400" b="0" i="0" baseline="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HBr</a:t>
                      </a:r>
                      <a:r>
                        <a:rPr lang="uk-UA" sz="2400" b="0" i="0" baseline="30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-</a:t>
                      </a:r>
                      <a:r>
                        <a:rPr lang="en-US" sz="2400" b="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   HI</a:t>
                      </a:r>
                      <a:r>
                        <a:rPr lang="uk-UA" sz="2400" b="0" i="0" baseline="30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-</a:t>
                      </a:r>
                      <a:endParaRPr lang="uk-UA" sz="2400" b="0" i="0" baseline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sym typeface="Symbol"/>
                      </a:endParaRPr>
                    </a:p>
                    <a:p>
                      <a:pPr algn="ctr"/>
                      <a:r>
                        <a:rPr lang="uk-UA" sz="2400" b="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відновні </a:t>
                      </a:r>
                      <a:r>
                        <a:rPr lang="uk-UA" sz="2400" b="0" i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sym typeface="Symbol"/>
                        </a:rPr>
                        <a:t></a:t>
                      </a:r>
                      <a:endParaRPr lang="uk-UA" sz="2400" b="0" i="0" baseline="0" dirty="0" smtClean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Прямая со стрелкой 5"/>
          <p:cNvCxnSpPr/>
          <p:nvPr/>
        </p:nvCxnSpPr>
        <p:spPr>
          <a:xfrm>
            <a:off x="1691680" y="4587974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5580112" y="4587974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86191"/>
              </p:ext>
            </p:extLst>
          </p:nvPr>
        </p:nvGraphicFramePr>
        <p:xfrm>
          <a:off x="539552" y="555526"/>
          <a:ext cx="842493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         </a:t>
                      </a:r>
                      <a:r>
                        <a:rPr lang="uk-UA" sz="2400" dirty="0" smtClean="0">
                          <a:solidFill>
                            <a:schemeClr val="bg1"/>
                          </a:solidFill>
                        </a:rPr>
                        <a:t>Кислотні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uk-UA" sz="2400" dirty="0" smtClean="0">
                          <a:solidFill>
                            <a:schemeClr val="bg1"/>
                          </a:solidFill>
                        </a:rPr>
                        <a:t>                                   </a:t>
                      </a:r>
                      <a:r>
                        <a:rPr lang="en-US" sz="2400" b="0" i="1" dirty="0" smtClean="0">
                          <a:solidFill>
                            <a:schemeClr val="bg1"/>
                          </a:solidFill>
                        </a:rPr>
                        <a:t>HHal+H</a:t>
                      </a:r>
                      <a:r>
                        <a:rPr lang="en-US" sz="2400" b="0" i="1" baseline="-25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2400" b="0" i="1" dirty="0" smtClean="0">
                          <a:solidFill>
                            <a:schemeClr val="bg1"/>
                          </a:solidFill>
                        </a:rPr>
                        <a:t>O=H</a:t>
                      </a:r>
                      <a:r>
                        <a:rPr lang="en-US" sz="2400" b="0" i="1" baseline="-25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n-US" sz="2400" b="0" i="1" dirty="0" smtClean="0">
                          <a:solidFill>
                            <a:schemeClr val="bg1"/>
                          </a:solidFill>
                        </a:rPr>
                        <a:t>O</a:t>
                      </a:r>
                      <a:r>
                        <a:rPr lang="en-US" sz="2400" b="0" i="1" baseline="30000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en-US" sz="2400" b="0" i="1" dirty="0" smtClean="0">
                          <a:solidFill>
                            <a:schemeClr val="bg1"/>
                          </a:solidFill>
                        </a:rPr>
                        <a:t>+Hal   pH&lt;7</a:t>
                      </a:r>
                      <a:endParaRPr lang="uk-UA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З</a:t>
                      </a:r>
                      <a:r>
                        <a:rPr lang="uk-UA" sz="2400" baseline="0" dirty="0" smtClean="0"/>
                        <a:t> основами і основними оксидами    </a:t>
                      </a:r>
                      <a:r>
                        <a:rPr lang="en-US" sz="2400" i="1" baseline="0" dirty="0" err="1" smtClean="0"/>
                        <a:t>HI+NaOH</a:t>
                      </a:r>
                      <a:r>
                        <a:rPr lang="en-US" sz="2400" i="1" baseline="0" dirty="0" smtClean="0"/>
                        <a:t>=NaI+H</a:t>
                      </a:r>
                      <a:r>
                        <a:rPr lang="en-US" sz="2400" i="1" baseline="-25000" dirty="0" smtClean="0"/>
                        <a:t>2</a:t>
                      </a:r>
                      <a:r>
                        <a:rPr lang="en-US" sz="2400" i="1" baseline="0" dirty="0" smtClean="0"/>
                        <a:t>O</a:t>
                      </a:r>
                      <a:endParaRPr lang="uk-UA" sz="2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400" dirty="0" smtClean="0"/>
                        <a:t>З деякими солями</a:t>
                      </a:r>
                      <a:r>
                        <a:rPr lang="en-US" sz="2400" dirty="0" smtClean="0"/>
                        <a:t>   </a:t>
                      </a:r>
                      <a:r>
                        <a:rPr lang="uk-UA" sz="2400" dirty="0" smtClean="0"/>
                        <a:t>                                </a:t>
                      </a:r>
                      <a:r>
                        <a:rPr lang="en-US" sz="2400" i="1" dirty="0" err="1" smtClean="0"/>
                        <a:t>Cl</a:t>
                      </a:r>
                      <a:r>
                        <a:rPr lang="en-US" sz="2400" i="1" baseline="30000" dirty="0" smtClean="0"/>
                        <a:t>-</a:t>
                      </a:r>
                      <a:r>
                        <a:rPr lang="en-US" sz="2400" i="1" baseline="0" dirty="0" smtClean="0"/>
                        <a:t>+Ag</a:t>
                      </a:r>
                      <a:r>
                        <a:rPr lang="en-US" sz="2400" i="1" baseline="30000" dirty="0" smtClean="0"/>
                        <a:t>+</a:t>
                      </a:r>
                      <a:r>
                        <a:rPr lang="en-US" sz="2400" i="1" baseline="0" dirty="0" smtClean="0"/>
                        <a:t> -&gt; </a:t>
                      </a:r>
                      <a:r>
                        <a:rPr lang="en-US" sz="2400" i="1" baseline="0" dirty="0" err="1" smtClean="0"/>
                        <a:t>AgCl</a:t>
                      </a:r>
                      <a:r>
                        <a:rPr lang="en-US" sz="2400" i="1" baseline="0" dirty="0" smtClean="0">
                          <a:sym typeface="Symbol"/>
                        </a:rPr>
                        <a:t></a:t>
                      </a:r>
                      <a:endParaRPr lang="en-US" sz="2400" i="1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baseline="0" dirty="0" smtClean="0"/>
                        <a:t>                                      </a:t>
                      </a:r>
                      <a:r>
                        <a:rPr lang="uk-UA" sz="2400" i="1" baseline="0" dirty="0" smtClean="0"/>
                        <a:t>                               </a:t>
                      </a:r>
                      <a:r>
                        <a:rPr lang="en-US" sz="2400" i="1" baseline="0" dirty="0" smtClean="0"/>
                        <a:t>Br</a:t>
                      </a:r>
                      <a:r>
                        <a:rPr lang="en-US" sz="2400" i="1" baseline="30000" dirty="0" smtClean="0"/>
                        <a:t>-</a:t>
                      </a:r>
                      <a:r>
                        <a:rPr lang="en-US" sz="2400" i="1" baseline="0" dirty="0" smtClean="0"/>
                        <a:t>+Ag</a:t>
                      </a:r>
                      <a:r>
                        <a:rPr lang="en-US" sz="2400" i="1" baseline="30000" dirty="0" smtClean="0"/>
                        <a:t>+</a:t>
                      </a:r>
                      <a:r>
                        <a:rPr lang="en-US" sz="2400" i="1" baseline="0" dirty="0" smtClean="0"/>
                        <a:t> -&gt; </a:t>
                      </a:r>
                      <a:r>
                        <a:rPr lang="en-US" sz="2400" i="1" baseline="0" dirty="0" err="1" smtClean="0"/>
                        <a:t>AgBr</a:t>
                      </a:r>
                      <a:r>
                        <a:rPr lang="en-US" sz="2400" i="1" baseline="0" dirty="0" smtClean="0">
                          <a:sym typeface="Symbol"/>
                        </a:rPr>
                        <a:t></a:t>
                      </a:r>
                      <a:endParaRPr lang="en-US" sz="2400" i="1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/>
                        <a:t>                                      </a:t>
                      </a:r>
                      <a:r>
                        <a:rPr lang="uk-UA" sz="2400" i="1" dirty="0" smtClean="0"/>
                        <a:t>                               </a:t>
                      </a:r>
                      <a:r>
                        <a:rPr lang="en-US" sz="2400" i="1" dirty="0" smtClean="0"/>
                        <a:t>l</a:t>
                      </a:r>
                      <a:r>
                        <a:rPr lang="en-US" sz="2400" i="1" baseline="30000" dirty="0" smtClean="0"/>
                        <a:t>-</a:t>
                      </a:r>
                      <a:r>
                        <a:rPr lang="en-US" sz="2400" i="1" baseline="0" dirty="0" smtClean="0"/>
                        <a:t>+Ag</a:t>
                      </a:r>
                      <a:r>
                        <a:rPr lang="en-US" sz="2400" i="1" baseline="30000" dirty="0" smtClean="0"/>
                        <a:t>+</a:t>
                      </a:r>
                      <a:r>
                        <a:rPr lang="en-US" sz="2400" i="1" baseline="0" dirty="0" smtClean="0"/>
                        <a:t> -&gt; </a:t>
                      </a:r>
                      <a:r>
                        <a:rPr lang="en-US" sz="2400" i="1" baseline="0" dirty="0" err="1" smtClean="0"/>
                        <a:t>Agl</a:t>
                      </a:r>
                      <a:r>
                        <a:rPr lang="en-US" sz="2400" i="1" baseline="0" dirty="0" smtClean="0">
                          <a:sym typeface="Symbol"/>
                        </a:rPr>
                        <a:t></a:t>
                      </a:r>
                      <a:endParaRPr lang="en-US" sz="2400" i="1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98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вал 14"/>
          <p:cNvSpPr/>
          <p:nvPr/>
        </p:nvSpPr>
        <p:spPr>
          <a:xfrm>
            <a:off x="5952314" y="622226"/>
            <a:ext cx="1344546" cy="5040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Овал 13"/>
          <p:cNvSpPr/>
          <p:nvPr/>
        </p:nvSpPr>
        <p:spPr>
          <a:xfrm>
            <a:off x="1706822" y="627534"/>
            <a:ext cx="854001" cy="5040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635" y="-79156"/>
            <a:ext cx="7869890" cy="749057"/>
          </a:xfrm>
        </p:spPr>
        <p:txBody>
          <a:bodyPr/>
          <a:lstStyle/>
          <a:p>
            <a:pPr algn="ctr"/>
            <a:r>
              <a:rPr lang="uk-UA" dirty="0" smtClean="0"/>
              <a:t>Добування та застосування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11635" y="627534"/>
            <a:ext cx="3672800" cy="20005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	</a:t>
            </a:r>
            <a:r>
              <a:rPr lang="uk-UA" sz="2800" b="1" dirty="0" smtClean="0"/>
              <a:t>   </a:t>
            </a:r>
            <a:r>
              <a:rPr lang="en-US" sz="2800" b="1" dirty="0" smtClean="0"/>
              <a:t>HCl</a:t>
            </a:r>
            <a:endParaRPr lang="uk-UA" sz="2400" b="1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В промисловості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H</a:t>
            </a:r>
            <a:r>
              <a:rPr lang="en-US" sz="2400" baseline="-25000" dirty="0">
                <a:solidFill>
                  <a:prstClr val="black"/>
                </a:solidFill>
              </a:rPr>
              <a:t>2 </a:t>
            </a:r>
            <a:r>
              <a:rPr lang="en-US" sz="2400" dirty="0">
                <a:solidFill>
                  <a:prstClr val="black"/>
                </a:solidFill>
              </a:rPr>
              <a:t>+ Cl</a:t>
            </a:r>
            <a:r>
              <a:rPr lang="en-US" sz="2400" baseline="-25000" dirty="0">
                <a:solidFill>
                  <a:prstClr val="black"/>
                </a:solidFill>
              </a:rPr>
              <a:t>2 </a:t>
            </a:r>
            <a:r>
              <a:rPr lang="en-US" sz="2400" dirty="0">
                <a:solidFill>
                  <a:prstClr val="black"/>
                </a:solidFill>
              </a:rPr>
              <a:t>= </a:t>
            </a:r>
            <a:r>
              <a:rPr lang="en-US" sz="2400" dirty="0" smtClean="0">
                <a:solidFill>
                  <a:prstClr val="black"/>
                </a:solidFill>
              </a:rPr>
              <a:t>2HCl</a:t>
            </a:r>
            <a:endParaRPr lang="uk-UA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uk-UA" sz="2400" dirty="0" smtClean="0"/>
              <a:t>В лабораторії</a:t>
            </a:r>
          </a:p>
          <a:p>
            <a:r>
              <a:rPr lang="en-US" sz="2400" dirty="0" smtClean="0"/>
              <a:t>NaCl+H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SO</a:t>
            </a:r>
            <a:r>
              <a:rPr lang="en-US" sz="2400" baseline="-25000" dirty="0" smtClean="0"/>
              <a:t>4(</a:t>
            </a:r>
            <a:r>
              <a:rPr lang="uk-UA" sz="2400" baseline="-25000" dirty="0"/>
              <a:t>к</a:t>
            </a:r>
            <a:r>
              <a:rPr lang="en-US" sz="2400" baseline="-25000" dirty="0" smtClean="0"/>
              <a:t>)</a:t>
            </a:r>
            <a:r>
              <a:rPr lang="en-US" sz="2400" dirty="0" smtClean="0"/>
              <a:t>=2HCl+Na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SO</a:t>
            </a:r>
            <a:r>
              <a:rPr lang="en-US" sz="2400" baseline="-25000" dirty="0" smtClean="0"/>
              <a:t>4</a:t>
            </a:r>
            <a:endParaRPr lang="uk-UA" sz="2400" baseline="-25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446240" y="627534"/>
            <a:ext cx="439111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HBr</a:t>
            </a:r>
            <a:r>
              <a:rPr lang="en-US" sz="2400" b="1" dirty="0"/>
              <a:t> </a:t>
            </a:r>
            <a:r>
              <a:rPr lang="uk-UA" sz="2400" b="1" dirty="0" smtClean="0"/>
              <a:t>і </a:t>
            </a:r>
            <a:r>
              <a:rPr lang="en-US" sz="2800" b="1" dirty="0" smtClean="0"/>
              <a:t>HI</a:t>
            </a:r>
            <a:endParaRPr lang="uk-UA" sz="2800" b="1" dirty="0" smtClean="0"/>
          </a:p>
          <a:p>
            <a:pPr marL="342900" indent="-342900" algn="ctr">
              <a:buFont typeface="Arial" pitchFamily="34" charset="0"/>
              <a:buChar char="•"/>
            </a:pPr>
            <a:r>
              <a:rPr lang="uk-UA" sz="2400" dirty="0" smtClean="0"/>
              <a:t>В промисловості дією води на фосфоровміснім сполуки</a:t>
            </a:r>
          </a:p>
          <a:p>
            <a:pPr algn="ctr"/>
            <a:r>
              <a:rPr lang="en-US" sz="2400" dirty="0" smtClean="0"/>
              <a:t>PBr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+3H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O=H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PO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+3HBr</a:t>
            </a:r>
          </a:p>
          <a:p>
            <a:pPr algn="ctr"/>
            <a:r>
              <a:rPr lang="en-US" sz="2400" dirty="0" smtClean="0"/>
              <a:t>PI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+3H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O=H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PO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+3HI</a:t>
            </a:r>
            <a:endParaRPr lang="uk-UA" sz="2400" dirty="0" smtClean="0"/>
          </a:p>
        </p:txBody>
      </p:sp>
      <p:sp>
        <p:nvSpPr>
          <p:cNvPr id="11" name="Прямоугольник 10"/>
          <p:cNvSpPr/>
          <p:nvPr/>
        </p:nvSpPr>
        <p:spPr>
          <a:xfrm>
            <a:off x="919783" y="2821877"/>
            <a:ext cx="2428081" cy="22701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919783" y="2821877"/>
            <a:ext cx="2428081" cy="230832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HCl</a:t>
            </a:r>
            <a:r>
              <a:rPr lang="uk-UA" sz="2400" b="1" dirty="0">
                <a:solidFill>
                  <a:prstClr val="black"/>
                </a:solidFill>
              </a:rPr>
              <a:t>, хлориди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добування солей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харчова промисловість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медицина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3635896" y="2831162"/>
            <a:ext cx="2275445" cy="19460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угольник 7"/>
          <p:cNvSpPr/>
          <p:nvPr/>
        </p:nvSpPr>
        <p:spPr>
          <a:xfrm>
            <a:off x="3623506" y="2834696"/>
            <a:ext cx="22754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k-UA" sz="2400" b="1" dirty="0">
                <a:solidFill>
                  <a:prstClr val="black"/>
                </a:solidFill>
              </a:rPr>
              <a:t>Броміди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медицина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органічний синтез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в </a:t>
            </a:r>
            <a:r>
              <a:rPr lang="uk-UA" sz="2400" dirty="0" err="1">
                <a:solidFill>
                  <a:prstClr val="black"/>
                </a:solidFill>
              </a:rPr>
              <a:t>фотосправі</a:t>
            </a:r>
            <a:endParaRPr lang="uk-UA" sz="2400" dirty="0">
              <a:solidFill>
                <a:prstClr val="black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168574" y="2821877"/>
            <a:ext cx="2147842" cy="19460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Прямоугольник 8"/>
          <p:cNvSpPr/>
          <p:nvPr/>
        </p:nvSpPr>
        <p:spPr>
          <a:xfrm>
            <a:off x="6168574" y="2834697"/>
            <a:ext cx="25202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k-UA" sz="2400" b="1" dirty="0">
                <a:solidFill>
                  <a:prstClr val="black"/>
                </a:solidFill>
              </a:rPr>
              <a:t>Йодиди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медицина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фармація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uk-UA" sz="2400" dirty="0">
                <a:solidFill>
                  <a:prstClr val="black"/>
                </a:solidFill>
              </a:rPr>
              <a:t>органічний синтез</a:t>
            </a:r>
          </a:p>
        </p:txBody>
      </p:sp>
    </p:spTree>
    <p:extLst>
      <p:ext uri="{BB962C8B-B14F-4D97-AF65-F5344CB8AC3E}">
        <p14:creationId xmlns:p14="http://schemas.microsoft.com/office/powerpoint/2010/main" val="120739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himicheskaya-zhidkost</Template>
  <TotalTime>1135</TotalTime>
  <Words>984</Words>
  <Application>Microsoft Office PowerPoint</Application>
  <PresentationFormat>Экран (16:9)</PresentationFormat>
  <Paragraphs>293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Symbol</vt:lpstr>
      <vt:lpstr>Times New Roman</vt:lpstr>
      <vt:lpstr>Wingdings</vt:lpstr>
      <vt:lpstr>Тема Office</vt:lpstr>
      <vt:lpstr>Хлор, Бром, Іод:  їх прості речовини  та сполуки  в ступені окиснення -1 </vt:lpstr>
      <vt:lpstr>План</vt:lpstr>
      <vt:lpstr>Презентация PowerPoint</vt:lpstr>
      <vt:lpstr>Презентация PowerPoint</vt:lpstr>
      <vt:lpstr>Презентация PowerPoint</vt:lpstr>
      <vt:lpstr>Властивості елементів</vt:lpstr>
      <vt:lpstr>Властивості елементів</vt:lpstr>
      <vt:lpstr>Поширення в природі</vt:lpstr>
      <vt:lpstr>Мінерали</vt:lpstr>
      <vt:lpstr>Поширення в природі</vt:lpstr>
      <vt:lpstr>Поширення в природі</vt:lpstr>
      <vt:lpstr>Прості речовини</vt:lpstr>
      <vt:lpstr>Фізичні властивості</vt:lpstr>
      <vt:lpstr>Презентация PowerPoint</vt:lpstr>
      <vt:lpstr>Хімічні властивості</vt:lpstr>
      <vt:lpstr>Хімічні властивості</vt:lpstr>
      <vt:lpstr>Добування</vt:lpstr>
      <vt:lpstr>Застосування</vt:lpstr>
      <vt:lpstr>Застосування Cl, Br, I  в супрамолекулярній хімії</vt:lpstr>
      <vt:lpstr>Сполуки Хлору,Брому,Йоду в ст.ок. -1 </vt:lpstr>
      <vt:lpstr>Водні розчини галогенідів - кислоти</vt:lpstr>
      <vt:lpstr>Хімічні властивості</vt:lpstr>
      <vt:lpstr>Добування та застосування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 655</dc:creator>
  <cp:lastModifiedBy>ProF</cp:lastModifiedBy>
  <cp:revision>92</cp:revision>
  <dcterms:created xsi:type="dcterms:W3CDTF">2021-03-02T16:50:09Z</dcterms:created>
  <dcterms:modified xsi:type="dcterms:W3CDTF">2021-03-12T09:21:30Z</dcterms:modified>
</cp:coreProperties>
</file>